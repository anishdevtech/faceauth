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9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Arimo" charset="1" panose="020B0604020202020204"/>
      <p:regular r:id="rId22"/>
    </p:embeddedFont>
    <p:embeddedFont>
      <p:font typeface="Arimo Bold" charset="1" panose="020B0704020202020204"/>
      <p:regular r:id="rId28"/>
    </p:embeddedFont>
    <p:embeddedFont>
      <p:font typeface="Arimo Italics" charset="1" panose="020B0604020202090204"/>
      <p:regular r:id="rId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notesMasters/notesMaster1.xml" Type="http://schemas.openxmlformats.org/officeDocument/2006/relationships/notesMaster"/><Relationship Id="rId2" Target="presProps.xml" Type="http://schemas.openxmlformats.org/officeDocument/2006/relationships/presProps"/><Relationship Id="rId20" Target="theme/theme2.xml" Type="http://schemas.openxmlformats.org/officeDocument/2006/relationships/theme"/><Relationship Id="rId21" Target="notesSlides/notesSlide1.xml" Type="http://schemas.openxmlformats.org/officeDocument/2006/relationships/notesSlide"/><Relationship Id="rId22" Target="fonts/font22.fntdata" Type="http://schemas.openxmlformats.org/officeDocument/2006/relationships/font"/><Relationship Id="rId23" Target="notesSlides/notesSlide2.xml" Type="http://schemas.openxmlformats.org/officeDocument/2006/relationships/notesSlide"/><Relationship Id="rId24" Target="notesSlides/notesSlide3.xml" Type="http://schemas.openxmlformats.org/officeDocument/2006/relationships/notesSlide"/><Relationship Id="rId25" Target="notesSlides/notesSlide4.xml" Type="http://schemas.openxmlformats.org/officeDocument/2006/relationships/notesSlide"/><Relationship Id="rId26" Target="notesSlides/notesSlide5.xml" Type="http://schemas.openxmlformats.org/officeDocument/2006/relationships/notesSlide"/><Relationship Id="rId27" Target="notesSlides/notesSlide6.xml" Type="http://schemas.openxmlformats.org/officeDocument/2006/relationships/notesSlide"/><Relationship Id="rId28" Target="fonts/font28.fntdata" Type="http://schemas.openxmlformats.org/officeDocument/2006/relationships/font"/><Relationship Id="rId29" Target="notesSlides/notesSlide7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8.xml" Type="http://schemas.openxmlformats.org/officeDocument/2006/relationships/notesSlide"/><Relationship Id="rId31" Target="notesSlides/notesSlide9.xml" Type="http://schemas.openxmlformats.org/officeDocument/2006/relationships/notesSlide"/><Relationship Id="rId32" Target="notesSlides/notesSlide10.xml" Type="http://schemas.openxmlformats.org/officeDocument/2006/relationships/notesSlide"/><Relationship Id="rId33" Target="fonts/font33.fntdata" Type="http://schemas.openxmlformats.org/officeDocument/2006/relationships/font"/><Relationship Id="rId34" Target="notesSlides/notesSlide11.xml" Type="http://schemas.openxmlformats.org/officeDocument/2006/relationships/notesSlide"/><Relationship Id="rId35" Target="notesSlides/notesSlide12.xml" Type="http://schemas.openxmlformats.org/officeDocument/2006/relationships/notesSlide"/><Relationship Id="rId36" Target="notesSlides/notesSlide13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svg" Type="http://schemas.openxmlformats.org/officeDocument/2006/relationships/image"/><Relationship Id="rId11" Target="../media/image8.png" Type="http://schemas.openxmlformats.org/officeDocument/2006/relationships/image"/><Relationship Id="rId12" Target="../media/image9.svg" Type="http://schemas.openxmlformats.org/officeDocument/2006/relationships/image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https://gamma.app/?utm_source=made-with-gamma" TargetMode="External" Type="http://schemas.openxmlformats.org/officeDocument/2006/relationships/hyperlink"/><Relationship Id="rId5" Target="../media/image2.png" Type="http://schemas.openxmlformats.org/officeDocument/2006/relationships/image"/><Relationship Id="rId6" Target="../media/image3.png" Type="http://schemas.openxmlformats.org/officeDocument/2006/relationships/image"/><Relationship Id="rId7" Target="../media/image4.png" Type="http://schemas.openxmlformats.org/officeDocument/2006/relationships/image"/><Relationship Id="rId8" Target="../media/image5.svg" Type="http://schemas.openxmlformats.org/officeDocument/2006/relationships/image"/><Relationship Id="rId9" Target="../media/image6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pn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pn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png" Type="http://schemas.openxmlformats.org/officeDocument/2006/relationships/image"/><Relationship Id="rId4" Target="../media/image1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png" Type="http://schemas.openxmlformats.org/officeDocument/2006/relationships/image"/><Relationship Id="rId4" Target="../media/image15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png" Type="http://schemas.openxmlformats.org/officeDocument/2006/relationships/image"/><Relationship Id="rId4" Target="../media/image15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png" Type="http://schemas.openxmlformats.org/officeDocument/2006/relationships/image"/><Relationship Id="rId4" Target="../media/image16.png" Type="http://schemas.openxmlformats.org/officeDocument/2006/relationships/image"/><Relationship Id="rId5" Target="../media/image17.png" Type="http://schemas.openxmlformats.org/officeDocument/2006/relationships/image"/><Relationship Id="rId6" Target="../media/image18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png" Type="http://schemas.openxmlformats.org/officeDocument/2006/relationships/image"/><Relationship Id="rId4" Target="../media/image19.png" Type="http://schemas.openxmlformats.org/officeDocument/2006/relationships/image"/><Relationship Id="rId5" Target="../media/image2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png" Type="http://schemas.openxmlformats.org/officeDocument/2006/relationships/image"/><Relationship Id="rId4" Target="../media/image15.jpeg" Type="http://schemas.openxmlformats.org/officeDocument/2006/relationships/image"/><Relationship Id="rId5" Target="../media/image2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png" Type="http://schemas.openxmlformats.org/officeDocument/2006/relationships/image"/><Relationship Id="rId4" Target="../media/image15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.png" Type="http://schemas.openxmlformats.org/officeDocument/2006/relationships/image"/><Relationship Id="rId4" Target="https://gamma.app/?utm_source=made-with-gamma" TargetMode="External" Type="http://schemas.openxmlformats.org/officeDocument/2006/relationships/hyperlink"/><Relationship Id="rId5" Target="../media/image2.png" Type="http://schemas.openxmlformats.org/officeDocument/2006/relationships/image"/><Relationship Id="rId6" Target="../media/image22.png" Type="http://schemas.openxmlformats.org/officeDocument/2006/relationships/image"/><Relationship Id="rId7" Target="../media/image23.png" Type="http://schemas.openxmlformats.org/officeDocument/2006/relationships/image"/><Relationship Id="rId8" Target="../media/image24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1.png" Type="http://schemas.openxmlformats.org/officeDocument/2006/relationships/image"/><Relationship Id="rId4" Target="../media/image15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81616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628307" y="9846183"/>
            <a:ext cx="1609020" cy="384353"/>
            <a:chOff x="0" y="0"/>
            <a:chExt cx="2145360" cy="512470"/>
          </a:xfrm>
        </p:grpSpPr>
        <p:sp>
          <p:nvSpPr>
            <p:cNvPr name="Freeform 7" id="7" descr="preencoded.png">
              <a:hlinkClick r:id="rId4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145411" cy="512445"/>
            </a:xfrm>
            <a:custGeom>
              <a:avLst/>
              <a:gdLst/>
              <a:ahLst/>
              <a:cxnLst/>
              <a:rect r="r" b="b" t="t" l="l"/>
              <a:pathLst>
                <a:path h="512445" w="2145411">
                  <a:moveTo>
                    <a:pt x="0" y="0"/>
                  </a:moveTo>
                  <a:lnTo>
                    <a:pt x="2145411" y="0"/>
                  </a:lnTo>
                  <a:lnTo>
                    <a:pt x="2145411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2" b="-4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752334" y="0"/>
            <a:ext cx="7549505" cy="10295039"/>
            <a:chOff x="0" y="0"/>
            <a:chExt cx="10066007" cy="13726719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10066020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10066020">
                  <a:moveTo>
                    <a:pt x="0" y="0"/>
                  </a:moveTo>
                  <a:lnTo>
                    <a:pt x="10066020" y="0"/>
                  </a:lnTo>
                  <a:lnTo>
                    <a:pt x="10066020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" t="0" r="-1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92991" y="1484376"/>
            <a:ext cx="4805867" cy="533219"/>
            <a:chOff x="0" y="0"/>
            <a:chExt cx="6407823" cy="71095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07785" cy="710946"/>
            </a:xfrm>
            <a:custGeom>
              <a:avLst/>
              <a:gdLst/>
              <a:ahLst/>
              <a:cxnLst/>
              <a:rect r="r" b="b" t="t" l="l"/>
              <a:pathLst>
                <a:path h="710946" w="6407785">
                  <a:moveTo>
                    <a:pt x="0" y="127127"/>
                  </a:moveTo>
                  <a:cubicBezTo>
                    <a:pt x="0" y="56896"/>
                    <a:pt x="56896" y="0"/>
                    <a:pt x="127127" y="0"/>
                  </a:cubicBezTo>
                  <a:lnTo>
                    <a:pt x="6280658" y="0"/>
                  </a:lnTo>
                  <a:cubicBezTo>
                    <a:pt x="6350889" y="0"/>
                    <a:pt x="6407785" y="56896"/>
                    <a:pt x="6407785" y="127127"/>
                  </a:cubicBezTo>
                  <a:lnTo>
                    <a:pt x="6407785" y="583819"/>
                  </a:lnTo>
                  <a:cubicBezTo>
                    <a:pt x="6407785" y="654050"/>
                    <a:pt x="6350889" y="710946"/>
                    <a:pt x="6280658" y="710946"/>
                  </a:cubicBezTo>
                  <a:lnTo>
                    <a:pt x="127127" y="710946"/>
                  </a:lnTo>
                  <a:cubicBezTo>
                    <a:pt x="56896" y="710946"/>
                    <a:pt x="0" y="654050"/>
                    <a:pt x="0" y="583819"/>
                  </a:cubicBezTo>
                  <a:close/>
                </a:path>
              </a:pathLst>
            </a:custGeom>
            <a:solidFill>
              <a:srgbClr val="262626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163231" y="1483700"/>
            <a:ext cx="5380482" cy="448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5"/>
              </a:lnSpc>
            </a:pPr>
            <a:r>
              <a:rPr lang="en-US" sz="1726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NHAI HACKATHON 7.0 · TEAM SUBMISSION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92991" y="2073945"/>
            <a:ext cx="8008696" cy="9438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1"/>
              </a:lnSpc>
            </a:pPr>
            <a:r>
              <a:rPr lang="en-US" sz="5554">
                <a:solidFill>
                  <a:srgbClr val="DDDDDD"/>
                </a:solidFill>
                <a:latin typeface="Arimo"/>
                <a:ea typeface="Arimo"/>
                <a:cs typeface="Arimo"/>
                <a:sym typeface="Arimo"/>
              </a:rPr>
              <a:t>FaceAuth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92991" y="3348047"/>
            <a:ext cx="9452677" cy="1003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Secure offline face recognition for NHAI Datalake 3.0 — built with React Native and TFLite, with anti-spoof liveness detection.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88219" y="4665688"/>
            <a:ext cx="2971219" cy="4149747"/>
            <a:chOff x="0" y="0"/>
            <a:chExt cx="3961625" cy="553299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961638" cy="5533009"/>
            </a:xfrm>
            <a:custGeom>
              <a:avLst/>
              <a:gdLst/>
              <a:ahLst/>
              <a:cxnLst/>
              <a:rect r="r" b="b" t="t" l="l"/>
              <a:pathLst>
                <a:path h="5533009" w="3961638">
                  <a:moveTo>
                    <a:pt x="0" y="159385"/>
                  </a:moveTo>
                  <a:cubicBezTo>
                    <a:pt x="0" y="71374"/>
                    <a:pt x="71374" y="0"/>
                    <a:pt x="159385" y="0"/>
                  </a:cubicBezTo>
                  <a:lnTo>
                    <a:pt x="3802253" y="0"/>
                  </a:lnTo>
                  <a:cubicBezTo>
                    <a:pt x="3890264" y="0"/>
                    <a:pt x="3961638" y="71374"/>
                    <a:pt x="3961638" y="159385"/>
                  </a:cubicBezTo>
                  <a:lnTo>
                    <a:pt x="3961638" y="5373624"/>
                  </a:lnTo>
                  <a:cubicBezTo>
                    <a:pt x="3961638" y="5461635"/>
                    <a:pt x="3890264" y="5533009"/>
                    <a:pt x="3802253" y="5533009"/>
                  </a:cubicBezTo>
                  <a:lnTo>
                    <a:pt x="159385" y="5533009"/>
                  </a:lnTo>
                  <a:cubicBezTo>
                    <a:pt x="71374" y="5533009"/>
                    <a:pt x="0" y="5461635"/>
                    <a:pt x="0" y="5373624"/>
                  </a:cubicBezTo>
                  <a:close/>
                </a:path>
              </a:pathLst>
            </a:custGeom>
            <a:solidFill>
              <a:srgbClr val="404040"/>
            </a:solidFill>
            <a:ln w="9532" cap="sq">
              <a:solidFill>
                <a:srgbClr val="595959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286256" y="4963725"/>
            <a:ext cx="851192" cy="851221"/>
            <a:chOff x="0" y="0"/>
            <a:chExt cx="1134923" cy="113496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134872" cy="1134872"/>
            </a:xfrm>
            <a:custGeom>
              <a:avLst/>
              <a:gdLst/>
              <a:ahLst/>
              <a:cxnLst/>
              <a:rect r="r" b="b" t="t" l="l"/>
              <a:pathLst>
                <a:path h="1134872" w="1134872">
                  <a:moveTo>
                    <a:pt x="0" y="567436"/>
                  </a:moveTo>
                  <a:cubicBezTo>
                    <a:pt x="0" y="254000"/>
                    <a:pt x="254000" y="0"/>
                    <a:pt x="567436" y="0"/>
                  </a:cubicBezTo>
                  <a:cubicBezTo>
                    <a:pt x="880872" y="0"/>
                    <a:pt x="1134872" y="254000"/>
                    <a:pt x="1134872" y="567436"/>
                  </a:cubicBezTo>
                  <a:cubicBezTo>
                    <a:pt x="1134872" y="880872"/>
                    <a:pt x="880872" y="1134872"/>
                    <a:pt x="567436" y="1134872"/>
                  </a:cubicBezTo>
                  <a:cubicBezTo>
                    <a:pt x="254000" y="1134872"/>
                    <a:pt x="0" y="880872"/>
                    <a:pt x="0" y="56743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19" id="19" descr="preencoded.png"/>
          <p:cNvSpPr/>
          <p:nvPr/>
        </p:nvSpPr>
        <p:spPr>
          <a:xfrm flipH="false" flipV="false" rot="0">
            <a:off x="1520390" y="5197716"/>
            <a:ext cx="382924" cy="382934"/>
          </a:xfrm>
          <a:custGeom>
            <a:avLst/>
            <a:gdLst/>
            <a:ahLst/>
            <a:cxnLst/>
            <a:rect r="r" b="b" t="t" l="l"/>
            <a:pathLst>
              <a:path h="382934" w="382924">
                <a:moveTo>
                  <a:pt x="0" y="0"/>
                </a:moveTo>
                <a:lnTo>
                  <a:pt x="382924" y="0"/>
                </a:lnTo>
                <a:lnTo>
                  <a:pt x="382924" y="382934"/>
                </a:lnTo>
                <a:lnTo>
                  <a:pt x="0" y="38293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1" t="0" r="-1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286256" y="6070102"/>
            <a:ext cx="2375154" cy="915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Face Recognition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86256" y="7060197"/>
            <a:ext cx="2375154" cy="1457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Fast identity verification on device.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4233643" y="4665688"/>
            <a:ext cx="2971219" cy="4149747"/>
            <a:chOff x="0" y="0"/>
            <a:chExt cx="3961625" cy="553299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961638" cy="5533009"/>
            </a:xfrm>
            <a:custGeom>
              <a:avLst/>
              <a:gdLst/>
              <a:ahLst/>
              <a:cxnLst/>
              <a:rect r="r" b="b" t="t" l="l"/>
              <a:pathLst>
                <a:path h="5533009" w="3961638">
                  <a:moveTo>
                    <a:pt x="0" y="159385"/>
                  </a:moveTo>
                  <a:cubicBezTo>
                    <a:pt x="0" y="71374"/>
                    <a:pt x="71374" y="0"/>
                    <a:pt x="159385" y="0"/>
                  </a:cubicBezTo>
                  <a:lnTo>
                    <a:pt x="3802253" y="0"/>
                  </a:lnTo>
                  <a:cubicBezTo>
                    <a:pt x="3890264" y="0"/>
                    <a:pt x="3961638" y="71374"/>
                    <a:pt x="3961638" y="159385"/>
                  </a:cubicBezTo>
                  <a:lnTo>
                    <a:pt x="3961638" y="5373624"/>
                  </a:lnTo>
                  <a:cubicBezTo>
                    <a:pt x="3961638" y="5461635"/>
                    <a:pt x="3890264" y="5533009"/>
                    <a:pt x="3802253" y="5533009"/>
                  </a:cubicBezTo>
                  <a:lnTo>
                    <a:pt x="159385" y="5533009"/>
                  </a:lnTo>
                  <a:cubicBezTo>
                    <a:pt x="71374" y="5533009"/>
                    <a:pt x="0" y="5461635"/>
                    <a:pt x="0" y="5373624"/>
                  </a:cubicBezTo>
                  <a:close/>
                </a:path>
              </a:pathLst>
            </a:custGeom>
            <a:solidFill>
              <a:srgbClr val="404040"/>
            </a:solidFill>
            <a:ln w="9532" cap="sq">
              <a:solidFill>
                <a:srgbClr val="595959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4531671" y="4963725"/>
            <a:ext cx="851192" cy="851221"/>
            <a:chOff x="0" y="0"/>
            <a:chExt cx="1134923" cy="113496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134872" cy="1134872"/>
            </a:xfrm>
            <a:custGeom>
              <a:avLst/>
              <a:gdLst/>
              <a:ahLst/>
              <a:cxnLst/>
              <a:rect r="r" b="b" t="t" l="l"/>
              <a:pathLst>
                <a:path h="1134872" w="1134872">
                  <a:moveTo>
                    <a:pt x="0" y="567436"/>
                  </a:moveTo>
                  <a:cubicBezTo>
                    <a:pt x="0" y="254000"/>
                    <a:pt x="254000" y="0"/>
                    <a:pt x="567436" y="0"/>
                  </a:cubicBezTo>
                  <a:cubicBezTo>
                    <a:pt x="880872" y="0"/>
                    <a:pt x="1134872" y="254000"/>
                    <a:pt x="1134872" y="567436"/>
                  </a:cubicBezTo>
                  <a:cubicBezTo>
                    <a:pt x="1134872" y="880872"/>
                    <a:pt x="880872" y="1134872"/>
                    <a:pt x="567436" y="1134872"/>
                  </a:cubicBezTo>
                  <a:cubicBezTo>
                    <a:pt x="254000" y="1134872"/>
                    <a:pt x="0" y="880872"/>
                    <a:pt x="0" y="56743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26" id="26" descr="preencoded.png"/>
          <p:cNvSpPr/>
          <p:nvPr/>
        </p:nvSpPr>
        <p:spPr>
          <a:xfrm flipH="false" flipV="false" rot="0">
            <a:off x="4765805" y="5197716"/>
            <a:ext cx="382924" cy="382934"/>
          </a:xfrm>
          <a:custGeom>
            <a:avLst/>
            <a:gdLst/>
            <a:ahLst/>
            <a:cxnLst/>
            <a:rect r="r" b="b" t="t" l="l"/>
            <a:pathLst>
              <a:path h="382934" w="382924">
                <a:moveTo>
                  <a:pt x="0" y="0"/>
                </a:moveTo>
                <a:lnTo>
                  <a:pt x="382924" y="0"/>
                </a:lnTo>
                <a:lnTo>
                  <a:pt x="382924" y="382934"/>
                </a:lnTo>
                <a:lnTo>
                  <a:pt x="0" y="38293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-1" t="0" r="-1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4531671" y="6070102"/>
            <a:ext cx="2375154" cy="471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100% Offline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4531671" y="6616932"/>
            <a:ext cx="2375154" cy="1457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Works without internet for field use.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7479059" y="4665688"/>
            <a:ext cx="2971219" cy="4149747"/>
            <a:chOff x="0" y="0"/>
            <a:chExt cx="3961625" cy="553299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961638" cy="5533009"/>
            </a:xfrm>
            <a:custGeom>
              <a:avLst/>
              <a:gdLst/>
              <a:ahLst/>
              <a:cxnLst/>
              <a:rect r="r" b="b" t="t" l="l"/>
              <a:pathLst>
                <a:path h="5533009" w="3961638">
                  <a:moveTo>
                    <a:pt x="0" y="159385"/>
                  </a:moveTo>
                  <a:cubicBezTo>
                    <a:pt x="0" y="71374"/>
                    <a:pt x="71374" y="0"/>
                    <a:pt x="159385" y="0"/>
                  </a:cubicBezTo>
                  <a:lnTo>
                    <a:pt x="3802253" y="0"/>
                  </a:lnTo>
                  <a:cubicBezTo>
                    <a:pt x="3890264" y="0"/>
                    <a:pt x="3961638" y="71374"/>
                    <a:pt x="3961638" y="159385"/>
                  </a:cubicBezTo>
                  <a:lnTo>
                    <a:pt x="3961638" y="5373624"/>
                  </a:lnTo>
                  <a:cubicBezTo>
                    <a:pt x="3961638" y="5461635"/>
                    <a:pt x="3890264" y="5533009"/>
                    <a:pt x="3802253" y="5533009"/>
                  </a:cubicBezTo>
                  <a:lnTo>
                    <a:pt x="159385" y="5533009"/>
                  </a:lnTo>
                  <a:cubicBezTo>
                    <a:pt x="71374" y="5533009"/>
                    <a:pt x="0" y="5461635"/>
                    <a:pt x="0" y="5373624"/>
                  </a:cubicBezTo>
                  <a:close/>
                </a:path>
              </a:pathLst>
            </a:custGeom>
            <a:solidFill>
              <a:srgbClr val="404040"/>
            </a:solidFill>
            <a:ln w="9532" cap="sq">
              <a:solidFill>
                <a:srgbClr val="595959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7777096" y="4963725"/>
            <a:ext cx="851192" cy="851221"/>
            <a:chOff x="0" y="0"/>
            <a:chExt cx="1134923" cy="113496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134872" cy="1134872"/>
            </a:xfrm>
            <a:custGeom>
              <a:avLst/>
              <a:gdLst/>
              <a:ahLst/>
              <a:cxnLst/>
              <a:rect r="r" b="b" t="t" l="l"/>
              <a:pathLst>
                <a:path h="1134872" w="1134872">
                  <a:moveTo>
                    <a:pt x="0" y="567436"/>
                  </a:moveTo>
                  <a:cubicBezTo>
                    <a:pt x="0" y="254000"/>
                    <a:pt x="254000" y="0"/>
                    <a:pt x="567436" y="0"/>
                  </a:cubicBezTo>
                  <a:cubicBezTo>
                    <a:pt x="880872" y="0"/>
                    <a:pt x="1134872" y="254000"/>
                    <a:pt x="1134872" y="567436"/>
                  </a:cubicBezTo>
                  <a:cubicBezTo>
                    <a:pt x="1134872" y="880872"/>
                    <a:pt x="880872" y="1134872"/>
                    <a:pt x="567436" y="1134872"/>
                  </a:cubicBezTo>
                  <a:cubicBezTo>
                    <a:pt x="254000" y="1134872"/>
                    <a:pt x="0" y="880872"/>
                    <a:pt x="0" y="56743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33" id="33" descr="preencoded.png"/>
          <p:cNvSpPr/>
          <p:nvPr/>
        </p:nvSpPr>
        <p:spPr>
          <a:xfrm flipH="false" flipV="false" rot="0">
            <a:off x="8011230" y="5197716"/>
            <a:ext cx="382924" cy="382934"/>
          </a:xfrm>
          <a:custGeom>
            <a:avLst/>
            <a:gdLst/>
            <a:ahLst/>
            <a:cxnLst/>
            <a:rect r="r" b="b" t="t" l="l"/>
            <a:pathLst>
              <a:path h="382934" w="382924">
                <a:moveTo>
                  <a:pt x="0" y="0"/>
                </a:moveTo>
                <a:lnTo>
                  <a:pt x="382924" y="0"/>
                </a:lnTo>
                <a:lnTo>
                  <a:pt x="382924" y="382934"/>
                </a:lnTo>
                <a:lnTo>
                  <a:pt x="0" y="38293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-9755" r="0" b="-9755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7777096" y="6070102"/>
            <a:ext cx="2375154" cy="471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Anti-Spoof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7777096" y="6616932"/>
            <a:ext cx="2375154" cy="1457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Liveness detection helps stop fake attempts.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81616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7549505" cy="10295039"/>
            <a:chOff x="0" y="0"/>
            <a:chExt cx="10066007" cy="13726719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10066020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10066020">
                  <a:moveTo>
                    <a:pt x="0" y="0"/>
                  </a:moveTo>
                  <a:lnTo>
                    <a:pt x="10066020" y="0"/>
                  </a:lnTo>
                  <a:lnTo>
                    <a:pt x="10066020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" t="0" r="-1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7856182" y="1076020"/>
            <a:ext cx="9452677" cy="2717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1"/>
              </a:lnSpc>
            </a:pPr>
            <a:r>
              <a:rPr lang="en-US" sz="5554">
                <a:solidFill>
                  <a:srgbClr val="DDDDDD"/>
                </a:solidFill>
                <a:latin typeface="Arimo"/>
                <a:ea typeface="Arimo"/>
                <a:cs typeface="Arimo"/>
                <a:sym typeface="Arimo"/>
              </a:rPr>
              <a:t>The Problem: Identity Verification at Remote Sites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7851410" y="4213936"/>
            <a:ext cx="4593927" cy="3014786"/>
            <a:chOff x="0" y="0"/>
            <a:chExt cx="6125235" cy="401971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125210" cy="4019677"/>
            </a:xfrm>
            <a:custGeom>
              <a:avLst/>
              <a:gdLst/>
              <a:ahLst/>
              <a:cxnLst/>
              <a:rect r="r" b="b" t="t" l="l"/>
              <a:pathLst>
                <a:path h="4019677" w="6125210">
                  <a:moveTo>
                    <a:pt x="0" y="159385"/>
                  </a:moveTo>
                  <a:cubicBezTo>
                    <a:pt x="0" y="71374"/>
                    <a:pt x="71374" y="0"/>
                    <a:pt x="159385" y="0"/>
                  </a:cubicBezTo>
                  <a:lnTo>
                    <a:pt x="5965825" y="0"/>
                  </a:lnTo>
                  <a:cubicBezTo>
                    <a:pt x="6053836" y="0"/>
                    <a:pt x="6125210" y="71374"/>
                    <a:pt x="6125210" y="159385"/>
                  </a:cubicBezTo>
                  <a:lnTo>
                    <a:pt x="6125210" y="3860292"/>
                  </a:lnTo>
                  <a:cubicBezTo>
                    <a:pt x="6125210" y="3948303"/>
                    <a:pt x="6053836" y="4019677"/>
                    <a:pt x="5965825" y="4019677"/>
                  </a:cubicBezTo>
                  <a:lnTo>
                    <a:pt x="159385" y="4019677"/>
                  </a:lnTo>
                  <a:cubicBezTo>
                    <a:pt x="71374" y="4019677"/>
                    <a:pt x="0" y="3948303"/>
                    <a:pt x="0" y="3860292"/>
                  </a:cubicBezTo>
                  <a:close/>
                </a:path>
              </a:pathLst>
            </a:custGeom>
            <a:solidFill>
              <a:srgbClr val="404040"/>
            </a:solidFill>
            <a:ln w="9532" cap="sq">
              <a:solidFill>
                <a:srgbClr val="595959"/>
              </a:solidFill>
              <a:prstDash val="solid"/>
              <a:miter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8149438" y="4483398"/>
            <a:ext cx="3997871" cy="915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70% of field sites have unreliable internet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149438" y="5473484"/>
            <a:ext cx="3997871" cy="1457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Cloud-based solutions fail completely without connectivity.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2719542" y="4213936"/>
            <a:ext cx="4594079" cy="3014786"/>
            <a:chOff x="0" y="0"/>
            <a:chExt cx="6125439" cy="401971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125337" cy="4019677"/>
            </a:xfrm>
            <a:custGeom>
              <a:avLst/>
              <a:gdLst/>
              <a:ahLst/>
              <a:cxnLst/>
              <a:rect r="r" b="b" t="t" l="l"/>
              <a:pathLst>
                <a:path h="4019677" w="6125337">
                  <a:moveTo>
                    <a:pt x="0" y="159385"/>
                  </a:moveTo>
                  <a:cubicBezTo>
                    <a:pt x="0" y="71374"/>
                    <a:pt x="71374" y="0"/>
                    <a:pt x="159385" y="0"/>
                  </a:cubicBezTo>
                  <a:lnTo>
                    <a:pt x="5965952" y="0"/>
                  </a:lnTo>
                  <a:cubicBezTo>
                    <a:pt x="6053963" y="0"/>
                    <a:pt x="6125337" y="71374"/>
                    <a:pt x="6125337" y="159385"/>
                  </a:cubicBezTo>
                  <a:lnTo>
                    <a:pt x="6125337" y="3860292"/>
                  </a:lnTo>
                  <a:cubicBezTo>
                    <a:pt x="6125337" y="3948303"/>
                    <a:pt x="6053963" y="4019677"/>
                    <a:pt x="5965952" y="4019677"/>
                  </a:cubicBezTo>
                  <a:lnTo>
                    <a:pt x="159385" y="4019677"/>
                  </a:lnTo>
                  <a:cubicBezTo>
                    <a:pt x="71374" y="4019677"/>
                    <a:pt x="0" y="3948303"/>
                    <a:pt x="0" y="3860292"/>
                  </a:cubicBezTo>
                  <a:close/>
                </a:path>
              </a:pathLst>
            </a:custGeom>
            <a:solidFill>
              <a:srgbClr val="404040"/>
            </a:solidFill>
            <a:ln w="9532" cap="sq">
              <a:solidFill>
                <a:srgbClr val="595959"/>
              </a:solidFill>
              <a:prstDash val="solid"/>
              <a:miter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13017570" y="4483398"/>
            <a:ext cx="3998014" cy="915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No biometric auth in Datalake 3.0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017570" y="5473484"/>
            <a:ext cx="3998014" cy="1003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Field personnel lack secure, verifiable identity checks.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7851410" y="7502928"/>
            <a:ext cx="9462211" cy="1663560"/>
            <a:chOff x="0" y="0"/>
            <a:chExt cx="12616282" cy="221808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616180" cy="2218055"/>
            </a:xfrm>
            <a:custGeom>
              <a:avLst/>
              <a:gdLst/>
              <a:ahLst/>
              <a:cxnLst/>
              <a:rect r="r" b="b" t="t" l="l"/>
              <a:pathLst>
                <a:path h="2218055" w="12616180">
                  <a:moveTo>
                    <a:pt x="0" y="159766"/>
                  </a:moveTo>
                  <a:cubicBezTo>
                    <a:pt x="0" y="71501"/>
                    <a:pt x="71501" y="0"/>
                    <a:pt x="159766" y="0"/>
                  </a:cubicBezTo>
                  <a:lnTo>
                    <a:pt x="12456414" y="0"/>
                  </a:lnTo>
                  <a:cubicBezTo>
                    <a:pt x="12544679" y="0"/>
                    <a:pt x="12616180" y="71501"/>
                    <a:pt x="12616180" y="159766"/>
                  </a:cubicBezTo>
                  <a:lnTo>
                    <a:pt x="12616180" y="2058289"/>
                  </a:lnTo>
                  <a:cubicBezTo>
                    <a:pt x="12616180" y="2146554"/>
                    <a:pt x="12544679" y="2218055"/>
                    <a:pt x="12456414" y="2218055"/>
                  </a:cubicBezTo>
                  <a:lnTo>
                    <a:pt x="159766" y="2218055"/>
                  </a:lnTo>
                  <a:cubicBezTo>
                    <a:pt x="71501" y="2218055"/>
                    <a:pt x="0" y="2146554"/>
                    <a:pt x="0" y="2058289"/>
                  </a:cubicBezTo>
                  <a:close/>
                </a:path>
              </a:pathLst>
            </a:custGeom>
            <a:solidFill>
              <a:srgbClr val="404040"/>
            </a:solidFill>
            <a:ln w="9532" cap="sq">
              <a:solidFill>
                <a:srgbClr val="595959"/>
              </a:solidFill>
              <a:prstDash val="solid"/>
              <a:miter/>
            </a:ln>
          </p:spPr>
        </p:sp>
      </p:grpSp>
      <p:sp>
        <p:nvSpPr>
          <p:cNvPr name="TextBox 19" id="19"/>
          <p:cNvSpPr txBox="true"/>
          <p:nvPr/>
        </p:nvSpPr>
        <p:spPr>
          <a:xfrm rot="0">
            <a:off x="8149438" y="7772390"/>
            <a:ext cx="5033010" cy="471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Photo-based fraud is growing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149438" y="8319221"/>
            <a:ext cx="8866146" cy="549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Static images bypass current identity checks at remote locations.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5027" y="41996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81616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574015" y="434188"/>
            <a:ext cx="4068909" cy="352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9"/>
              </a:lnSpc>
            </a:pPr>
            <a:r>
              <a:rPr lang="en-US" sz="2026">
                <a:solidFill>
                  <a:srgbClr val="DDDDDD"/>
                </a:solidFill>
                <a:latin typeface="Arimo"/>
                <a:ea typeface="Arimo"/>
                <a:cs typeface="Arimo"/>
                <a:sym typeface="Arimo"/>
              </a:rPr>
              <a:t>Our Solution at a Glance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574015" y="891435"/>
            <a:ext cx="5628025" cy="5628159"/>
            <a:chOff x="0" y="0"/>
            <a:chExt cx="9584246" cy="9584474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9584182" cy="9584436"/>
            </a:xfrm>
            <a:custGeom>
              <a:avLst/>
              <a:gdLst/>
              <a:ahLst/>
              <a:cxnLst/>
              <a:rect r="r" b="b" t="t" l="l"/>
              <a:pathLst>
                <a:path h="9584436" w="9584182">
                  <a:moveTo>
                    <a:pt x="0" y="0"/>
                  </a:moveTo>
                  <a:lnTo>
                    <a:pt x="9584182" y="0"/>
                  </a:lnTo>
                  <a:lnTo>
                    <a:pt x="9584182" y="9584436"/>
                  </a:lnTo>
                  <a:lnTo>
                    <a:pt x="0" y="95844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" t="0" r="-1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1892925" y="3443535"/>
            <a:ext cx="2692556" cy="185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17"/>
              </a:lnSpc>
            </a:pPr>
            <a:r>
              <a:rPr lang="en-US" sz="975">
                <a:solidFill>
                  <a:srgbClr val="DDDDDD"/>
                </a:solidFill>
                <a:latin typeface="Arimo"/>
                <a:ea typeface="Arimo"/>
                <a:cs typeface="Arimo"/>
                <a:sym typeface="Arimo"/>
              </a:rPr>
              <a:t>Three Screens, One Pipeline</a:t>
            </a:r>
          </a:p>
        </p:txBody>
      </p:sp>
      <p:sp>
        <p:nvSpPr>
          <p:cNvPr name="Freeform 10" id="10" descr="preencoded.png"/>
          <p:cNvSpPr/>
          <p:nvPr/>
        </p:nvSpPr>
        <p:spPr>
          <a:xfrm flipH="false" flipV="false" rot="0">
            <a:off x="11892925" y="3714826"/>
            <a:ext cx="5844283" cy="556012"/>
          </a:xfrm>
          <a:custGeom>
            <a:avLst/>
            <a:gdLst/>
            <a:ahLst/>
            <a:cxnLst/>
            <a:rect r="r" b="b" t="t" l="l"/>
            <a:pathLst>
              <a:path h="556012" w="5844283">
                <a:moveTo>
                  <a:pt x="0" y="0"/>
                </a:moveTo>
                <a:lnTo>
                  <a:pt x="5844282" y="0"/>
                </a:lnTo>
                <a:lnTo>
                  <a:pt x="5844282" y="556013"/>
                </a:lnTo>
                <a:lnTo>
                  <a:pt x="0" y="55601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501" r="0" b="-50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2047077" y="3811800"/>
            <a:ext cx="1332719" cy="185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17"/>
              </a:lnSpc>
            </a:pPr>
            <a:r>
              <a:rPr lang="en-US" sz="975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Verify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047077" y="4027913"/>
            <a:ext cx="5574106" cy="126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1"/>
              </a:lnSpc>
            </a:pPr>
            <a:r>
              <a:rPr lang="en-US" sz="825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Real-time face matching with liveness check.</a:t>
            </a:r>
          </a:p>
        </p:txBody>
      </p:sp>
      <p:sp>
        <p:nvSpPr>
          <p:cNvPr name="Freeform 13" id="13" descr="preencoded.png"/>
          <p:cNvSpPr/>
          <p:nvPr/>
        </p:nvSpPr>
        <p:spPr>
          <a:xfrm flipH="false" flipV="false" rot="0">
            <a:off x="11892925" y="4310901"/>
            <a:ext cx="5844283" cy="556012"/>
          </a:xfrm>
          <a:custGeom>
            <a:avLst/>
            <a:gdLst/>
            <a:ahLst/>
            <a:cxnLst/>
            <a:rect r="r" b="b" t="t" l="l"/>
            <a:pathLst>
              <a:path h="556012" w="5844283">
                <a:moveTo>
                  <a:pt x="0" y="0"/>
                </a:moveTo>
                <a:lnTo>
                  <a:pt x="5844282" y="0"/>
                </a:lnTo>
                <a:lnTo>
                  <a:pt x="5844282" y="556012"/>
                </a:lnTo>
                <a:lnTo>
                  <a:pt x="0" y="55601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501" r="0" b="-50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2047077" y="4407875"/>
            <a:ext cx="1332719" cy="185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17"/>
              </a:lnSpc>
            </a:pPr>
            <a:r>
              <a:rPr lang="en-US" sz="975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Enroll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047077" y="4623987"/>
            <a:ext cx="5574106" cy="126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1"/>
              </a:lnSpc>
            </a:pPr>
            <a:r>
              <a:rPr lang="en-US" sz="825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Register new personnel via 5-frame burst capture.</a:t>
            </a:r>
          </a:p>
        </p:txBody>
      </p:sp>
      <p:sp>
        <p:nvSpPr>
          <p:cNvPr name="Freeform 16" id="16" descr="preencoded.png"/>
          <p:cNvSpPr/>
          <p:nvPr/>
        </p:nvSpPr>
        <p:spPr>
          <a:xfrm flipH="false" flipV="false" rot="0">
            <a:off x="11892925" y="4906975"/>
            <a:ext cx="5844283" cy="556012"/>
          </a:xfrm>
          <a:custGeom>
            <a:avLst/>
            <a:gdLst/>
            <a:ahLst/>
            <a:cxnLst/>
            <a:rect r="r" b="b" t="t" l="l"/>
            <a:pathLst>
              <a:path h="556012" w="5844283">
                <a:moveTo>
                  <a:pt x="0" y="0"/>
                </a:moveTo>
                <a:lnTo>
                  <a:pt x="5844282" y="0"/>
                </a:lnTo>
                <a:lnTo>
                  <a:pt x="5844282" y="556013"/>
                </a:lnTo>
                <a:lnTo>
                  <a:pt x="0" y="55601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501" r="0" b="-50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2047077" y="5003949"/>
            <a:ext cx="1332719" cy="185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17"/>
              </a:lnSpc>
            </a:pPr>
            <a:r>
              <a:rPr lang="en-US" sz="975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Manage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047077" y="5220062"/>
            <a:ext cx="5574106" cy="126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1"/>
              </a:lnSpc>
            </a:pPr>
            <a:r>
              <a:rPr lang="en-US" sz="825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View, delete, or re-enroll identities.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070573" y="8261023"/>
            <a:ext cx="5558619" cy="313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91"/>
              </a:lnSpc>
            </a:pPr>
            <a:r>
              <a:rPr lang="en-US" sz="2702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57ms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183599" y="8638794"/>
            <a:ext cx="1332719" cy="185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17"/>
              </a:lnSpc>
            </a:pPr>
            <a:r>
              <a:rPr lang="en-US" sz="975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End-to-end latency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74015" y="8838819"/>
            <a:ext cx="8551878" cy="126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1"/>
              </a:lnSpc>
            </a:pPr>
            <a:r>
              <a:rPr lang="en-US" sz="825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On mid-range hardware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672496" y="8261023"/>
            <a:ext cx="5558619" cy="313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91"/>
              </a:lnSpc>
            </a:pPr>
            <a:r>
              <a:rPr lang="en-US" sz="2702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100%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785522" y="8638794"/>
            <a:ext cx="1332719" cy="185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17"/>
              </a:lnSpc>
            </a:pPr>
            <a:r>
              <a:rPr lang="en-US" sz="975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Spoof rejection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175947" y="8838819"/>
            <a:ext cx="8551878" cy="126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1"/>
              </a:lnSpc>
            </a:pPr>
            <a:r>
              <a:rPr lang="en-US" sz="825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Photo &amp; video attacks blocked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070573" y="9137113"/>
            <a:ext cx="5558619" cy="313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91"/>
              </a:lnSpc>
            </a:pPr>
            <a:r>
              <a:rPr lang="en-US" sz="2702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5.3MB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4183599" y="9514884"/>
            <a:ext cx="1332719" cy="185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17"/>
              </a:lnSpc>
            </a:pPr>
            <a:r>
              <a:rPr lang="en-US" sz="975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Total model size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574015" y="9714909"/>
            <a:ext cx="8551878" cy="126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1"/>
              </a:lnSpc>
            </a:pPr>
            <a:r>
              <a:rPr lang="en-US" sz="825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Bundled inside APK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672496" y="9137113"/>
            <a:ext cx="5558619" cy="313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91"/>
              </a:lnSpc>
            </a:pPr>
            <a:r>
              <a:rPr lang="en-US" sz="2702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0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785522" y="9514884"/>
            <a:ext cx="1332719" cy="185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17"/>
              </a:lnSpc>
            </a:pPr>
            <a:r>
              <a:rPr lang="en-US" sz="975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Network required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175947" y="9714909"/>
            <a:ext cx="8551878" cy="126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1"/>
              </a:lnSpc>
            </a:pPr>
            <a:r>
              <a:rPr lang="en-US" sz="825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Fully offline operation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81616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991" y="751913"/>
            <a:ext cx="11035770" cy="8456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82"/>
              </a:lnSpc>
            </a:pPr>
            <a:r>
              <a:rPr lang="en-US" sz="4953">
                <a:solidFill>
                  <a:srgbClr val="DDDDDD"/>
                </a:solidFill>
                <a:latin typeface="Arimo"/>
                <a:ea typeface="Arimo"/>
                <a:cs typeface="Arimo"/>
                <a:sym typeface="Arimo"/>
              </a:rPr>
              <a:t>Architecture: Two-Model Pipeline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991" y="1981019"/>
            <a:ext cx="17230954" cy="464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4"/>
              </a:lnSpc>
            </a:pPr>
            <a:r>
              <a:rPr lang="en-US" sz="1951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Two specialised models chained for speed and accuracy — zero cloud dependency.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4218899" y="2703938"/>
            <a:ext cx="9864052" cy="5756558"/>
            <a:chOff x="0" y="0"/>
            <a:chExt cx="13152069" cy="767541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13152120" cy="7675372"/>
            </a:xfrm>
            <a:custGeom>
              <a:avLst/>
              <a:gdLst/>
              <a:ahLst/>
              <a:cxnLst/>
              <a:rect r="r" b="b" t="t" l="l"/>
              <a:pathLst>
                <a:path h="7675372" w="13152120">
                  <a:moveTo>
                    <a:pt x="0" y="0"/>
                  </a:moveTo>
                  <a:lnTo>
                    <a:pt x="13152120" y="0"/>
                  </a:lnTo>
                  <a:lnTo>
                    <a:pt x="13152120" y="7675372"/>
                  </a:lnTo>
                  <a:lnTo>
                    <a:pt x="0" y="76753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5033162" y="5300043"/>
            <a:ext cx="2510971" cy="845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84"/>
              </a:lnSpc>
            </a:pPr>
            <a:r>
              <a:rPr lang="en-US" sz="2551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Face Verification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033162" y="6253039"/>
            <a:ext cx="2510971" cy="3234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7"/>
              </a:lnSpc>
            </a:pPr>
            <a:r>
              <a:rPr lang="en-US" sz="2026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BlazeFace Detection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307705" y="5711200"/>
            <a:ext cx="2510971" cy="845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84"/>
              </a:lnSpc>
            </a:pPr>
            <a:r>
              <a:rPr lang="en-US" sz="2551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Identity Recognition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307705" y="6664204"/>
            <a:ext cx="2510971" cy="637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7"/>
              </a:lnSpc>
            </a:pPr>
            <a:r>
              <a:rPr lang="en-US" sz="2026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MobileFaceNet Embedding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082995" y="6210471"/>
            <a:ext cx="2510971" cy="432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84"/>
              </a:lnSpc>
            </a:pPr>
            <a:r>
              <a:rPr lang="en-US" sz="2551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Anti-Spoofing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082995" y="6750472"/>
            <a:ext cx="2510971" cy="3234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7"/>
              </a:lnSpc>
            </a:pPr>
            <a:r>
              <a:rPr lang="en-US" sz="2026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Liveness Check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92991" y="8642861"/>
            <a:ext cx="16315868" cy="8524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4"/>
              </a:lnSpc>
            </a:pPr>
            <a:r>
              <a:rPr lang="en-US" sz="1951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BlazeFace outputs a bounding box and 6 landmarks reused for liveness. MobileFaceNet produces a 128-D vector (99.55% LFW accuracy) matched in under 1ms.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81616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991" y="965349"/>
            <a:ext cx="7655700" cy="8012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01"/>
              </a:lnSpc>
            </a:pPr>
            <a:r>
              <a:rPr lang="en-US" sz="4728">
                <a:solidFill>
                  <a:srgbClr val="DDDDDD"/>
                </a:solidFill>
                <a:latin typeface="Arimo"/>
                <a:ea typeface="Arimo"/>
                <a:cs typeface="Arimo"/>
                <a:sym typeface="Arimo"/>
              </a:rPr>
              <a:t>Five Key Differentiators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88219" y="2299849"/>
            <a:ext cx="552126" cy="552136"/>
            <a:chOff x="0" y="0"/>
            <a:chExt cx="736168" cy="73618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36092" cy="736219"/>
            </a:xfrm>
            <a:custGeom>
              <a:avLst/>
              <a:gdLst/>
              <a:ahLst/>
              <a:cxnLst/>
              <a:rect r="r" b="b" t="t" l="l"/>
              <a:pathLst>
                <a:path h="736219" w="736092">
                  <a:moveTo>
                    <a:pt x="0" y="137414"/>
                  </a:moveTo>
                  <a:cubicBezTo>
                    <a:pt x="0" y="61595"/>
                    <a:pt x="61595" y="0"/>
                    <a:pt x="137414" y="0"/>
                  </a:cubicBezTo>
                  <a:lnTo>
                    <a:pt x="598678" y="0"/>
                  </a:lnTo>
                  <a:cubicBezTo>
                    <a:pt x="674624" y="0"/>
                    <a:pt x="736092" y="61595"/>
                    <a:pt x="736092" y="137414"/>
                  </a:cubicBezTo>
                  <a:lnTo>
                    <a:pt x="736092" y="598805"/>
                  </a:lnTo>
                  <a:cubicBezTo>
                    <a:pt x="736092" y="674751"/>
                    <a:pt x="674497" y="736219"/>
                    <a:pt x="598678" y="736219"/>
                  </a:cubicBezTo>
                  <a:lnTo>
                    <a:pt x="137414" y="736219"/>
                  </a:lnTo>
                  <a:cubicBezTo>
                    <a:pt x="61595" y="736219"/>
                    <a:pt x="0" y="674624"/>
                    <a:pt x="0" y="598805"/>
                  </a:cubicBezTo>
                  <a:close/>
                </a:path>
              </a:pathLst>
            </a:custGeom>
            <a:solidFill>
              <a:srgbClr val="404040"/>
            </a:solidFill>
            <a:ln w="9532" cap="sq">
              <a:solidFill>
                <a:srgbClr val="595959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083326" y="2349751"/>
            <a:ext cx="361779" cy="452199"/>
            <a:chOff x="0" y="0"/>
            <a:chExt cx="482371" cy="60293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82369" cy="602927"/>
            </a:xfrm>
            <a:custGeom>
              <a:avLst/>
              <a:gdLst/>
              <a:ahLst/>
              <a:cxnLst/>
              <a:rect r="r" b="b" t="t" l="l"/>
              <a:pathLst>
                <a:path h="602927" w="482369">
                  <a:moveTo>
                    <a:pt x="0" y="0"/>
                  </a:moveTo>
                  <a:lnTo>
                    <a:pt x="482369" y="0"/>
                  </a:lnTo>
                  <a:lnTo>
                    <a:pt x="482369" y="602927"/>
                  </a:lnTo>
                  <a:lnTo>
                    <a:pt x="0" y="60292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10371" t="0" r="-110372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482371" cy="62198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32"/>
                </a:lnSpc>
              </a:pPr>
              <a:r>
                <a:rPr lang="en-US" sz="2777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1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740522" y="2358857"/>
            <a:ext cx="4219489" cy="405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3"/>
              </a:lnSpc>
            </a:pPr>
            <a:r>
              <a:rPr lang="en-US" sz="2326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Built-in Liveness at Zero Cost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40522" y="2893009"/>
            <a:ext cx="7116242" cy="433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9"/>
              </a:lnSpc>
            </a:pPr>
            <a:r>
              <a:rPr lang="en-US" sz="1876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Nose-to-eye landmark ratios — no extra model or latency.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88219" y="3731209"/>
            <a:ext cx="552126" cy="552136"/>
            <a:chOff x="0" y="0"/>
            <a:chExt cx="736168" cy="73618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36092" cy="736219"/>
            </a:xfrm>
            <a:custGeom>
              <a:avLst/>
              <a:gdLst/>
              <a:ahLst/>
              <a:cxnLst/>
              <a:rect r="r" b="b" t="t" l="l"/>
              <a:pathLst>
                <a:path h="736219" w="736092">
                  <a:moveTo>
                    <a:pt x="0" y="137414"/>
                  </a:moveTo>
                  <a:cubicBezTo>
                    <a:pt x="0" y="61595"/>
                    <a:pt x="61595" y="0"/>
                    <a:pt x="137414" y="0"/>
                  </a:cubicBezTo>
                  <a:lnTo>
                    <a:pt x="598678" y="0"/>
                  </a:lnTo>
                  <a:cubicBezTo>
                    <a:pt x="674624" y="0"/>
                    <a:pt x="736092" y="61595"/>
                    <a:pt x="736092" y="137414"/>
                  </a:cubicBezTo>
                  <a:lnTo>
                    <a:pt x="736092" y="598805"/>
                  </a:lnTo>
                  <a:cubicBezTo>
                    <a:pt x="736092" y="674751"/>
                    <a:pt x="674497" y="736219"/>
                    <a:pt x="598678" y="736219"/>
                  </a:cubicBezTo>
                  <a:lnTo>
                    <a:pt x="137414" y="736219"/>
                  </a:lnTo>
                  <a:cubicBezTo>
                    <a:pt x="61595" y="736219"/>
                    <a:pt x="0" y="674624"/>
                    <a:pt x="0" y="598805"/>
                  </a:cubicBezTo>
                  <a:close/>
                </a:path>
              </a:pathLst>
            </a:custGeom>
            <a:solidFill>
              <a:srgbClr val="404040"/>
            </a:solidFill>
            <a:ln w="9532" cap="sq">
              <a:solidFill>
                <a:srgbClr val="595959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1083326" y="3781101"/>
            <a:ext cx="361779" cy="452199"/>
            <a:chOff x="0" y="0"/>
            <a:chExt cx="482371" cy="60293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82369" cy="602927"/>
            </a:xfrm>
            <a:custGeom>
              <a:avLst/>
              <a:gdLst/>
              <a:ahLst/>
              <a:cxnLst/>
              <a:rect r="r" b="b" t="t" l="l"/>
              <a:pathLst>
                <a:path h="602927" w="482369">
                  <a:moveTo>
                    <a:pt x="0" y="0"/>
                  </a:moveTo>
                  <a:lnTo>
                    <a:pt x="482369" y="0"/>
                  </a:lnTo>
                  <a:lnTo>
                    <a:pt x="482369" y="602927"/>
                  </a:lnTo>
                  <a:lnTo>
                    <a:pt x="0" y="60292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10371" t="0" r="-110372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9050"/>
              <a:ext cx="482371" cy="62198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32"/>
                </a:lnSpc>
              </a:pPr>
              <a:r>
                <a:rPr lang="en-US" sz="2777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2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740522" y="3790217"/>
            <a:ext cx="3205353" cy="405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3"/>
              </a:lnSpc>
            </a:pPr>
            <a:r>
              <a:rPr lang="en-US" sz="2326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CLAHE Preprocessing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740522" y="4324369"/>
            <a:ext cx="7116242" cy="433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9"/>
              </a:lnSpc>
            </a:pPr>
            <a:r>
              <a:rPr lang="en-US" sz="1876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+12.1% accuracy in shadows, +7.4% in direct sunlight.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988219" y="5162569"/>
            <a:ext cx="552126" cy="552136"/>
            <a:chOff x="0" y="0"/>
            <a:chExt cx="736168" cy="73618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36092" cy="736219"/>
            </a:xfrm>
            <a:custGeom>
              <a:avLst/>
              <a:gdLst/>
              <a:ahLst/>
              <a:cxnLst/>
              <a:rect r="r" b="b" t="t" l="l"/>
              <a:pathLst>
                <a:path h="736219" w="736092">
                  <a:moveTo>
                    <a:pt x="0" y="137414"/>
                  </a:moveTo>
                  <a:cubicBezTo>
                    <a:pt x="0" y="61595"/>
                    <a:pt x="61595" y="0"/>
                    <a:pt x="137414" y="0"/>
                  </a:cubicBezTo>
                  <a:lnTo>
                    <a:pt x="598678" y="0"/>
                  </a:lnTo>
                  <a:cubicBezTo>
                    <a:pt x="674624" y="0"/>
                    <a:pt x="736092" y="61595"/>
                    <a:pt x="736092" y="137414"/>
                  </a:cubicBezTo>
                  <a:lnTo>
                    <a:pt x="736092" y="598805"/>
                  </a:lnTo>
                  <a:cubicBezTo>
                    <a:pt x="736092" y="674751"/>
                    <a:pt x="674497" y="736219"/>
                    <a:pt x="598678" y="736219"/>
                  </a:cubicBezTo>
                  <a:lnTo>
                    <a:pt x="137414" y="736219"/>
                  </a:lnTo>
                  <a:cubicBezTo>
                    <a:pt x="61595" y="736219"/>
                    <a:pt x="0" y="674624"/>
                    <a:pt x="0" y="598805"/>
                  </a:cubicBezTo>
                  <a:close/>
                </a:path>
              </a:pathLst>
            </a:custGeom>
            <a:solidFill>
              <a:srgbClr val="404040"/>
            </a:solidFill>
            <a:ln w="9532" cap="sq">
              <a:solidFill>
                <a:srgbClr val="595959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1083326" y="5212461"/>
            <a:ext cx="361779" cy="452199"/>
            <a:chOff x="0" y="0"/>
            <a:chExt cx="482371" cy="60293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82369" cy="602927"/>
            </a:xfrm>
            <a:custGeom>
              <a:avLst/>
              <a:gdLst/>
              <a:ahLst/>
              <a:cxnLst/>
              <a:rect r="r" b="b" t="t" l="l"/>
              <a:pathLst>
                <a:path h="602927" w="482369">
                  <a:moveTo>
                    <a:pt x="0" y="0"/>
                  </a:moveTo>
                  <a:lnTo>
                    <a:pt x="482369" y="0"/>
                  </a:lnTo>
                  <a:lnTo>
                    <a:pt x="482369" y="602927"/>
                  </a:lnTo>
                  <a:lnTo>
                    <a:pt x="0" y="60292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10371" t="0" r="-110372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9050"/>
              <a:ext cx="482371" cy="62198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32"/>
                </a:lnSpc>
              </a:pPr>
              <a:r>
                <a:rPr lang="en-US" sz="2777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3</a:t>
              </a: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740522" y="5221567"/>
            <a:ext cx="4235872" cy="405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3"/>
              </a:lnSpc>
            </a:pPr>
            <a:r>
              <a:rPr lang="en-US" sz="2326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Worklet-Based ML Threading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740522" y="5755719"/>
            <a:ext cx="7116242" cy="433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9"/>
              </a:lnSpc>
            </a:pPr>
            <a:r>
              <a:rPr lang="en-US" sz="1876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Inference on native thread via Reanimated — zero UI freezes.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988219" y="6593919"/>
            <a:ext cx="552126" cy="552136"/>
            <a:chOff x="0" y="0"/>
            <a:chExt cx="736168" cy="736181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36092" cy="736219"/>
            </a:xfrm>
            <a:custGeom>
              <a:avLst/>
              <a:gdLst/>
              <a:ahLst/>
              <a:cxnLst/>
              <a:rect r="r" b="b" t="t" l="l"/>
              <a:pathLst>
                <a:path h="736219" w="736092">
                  <a:moveTo>
                    <a:pt x="0" y="137414"/>
                  </a:moveTo>
                  <a:cubicBezTo>
                    <a:pt x="0" y="61595"/>
                    <a:pt x="61595" y="0"/>
                    <a:pt x="137414" y="0"/>
                  </a:cubicBezTo>
                  <a:lnTo>
                    <a:pt x="598678" y="0"/>
                  </a:lnTo>
                  <a:cubicBezTo>
                    <a:pt x="674624" y="0"/>
                    <a:pt x="736092" y="61595"/>
                    <a:pt x="736092" y="137414"/>
                  </a:cubicBezTo>
                  <a:lnTo>
                    <a:pt x="736092" y="598805"/>
                  </a:lnTo>
                  <a:cubicBezTo>
                    <a:pt x="736092" y="674751"/>
                    <a:pt x="674497" y="736219"/>
                    <a:pt x="598678" y="736219"/>
                  </a:cubicBezTo>
                  <a:lnTo>
                    <a:pt x="137414" y="736219"/>
                  </a:lnTo>
                  <a:cubicBezTo>
                    <a:pt x="61595" y="736219"/>
                    <a:pt x="0" y="674624"/>
                    <a:pt x="0" y="598805"/>
                  </a:cubicBezTo>
                  <a:close/>
                </a:path>
              </a:pathLst>
            </a:custGeom>
            <a:solidFill>
              <a:srgbClr val="404040"/>
            </a:solidFill>
            <a:ln w="9532" cap="sq">
              <a:solidFill>
                <a:srgbClr val="595959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1083326" y="6643821"/>
            <a:ext cx="361779" cy="452199"/>
            <a:chOff x="0" y="0"/>
            <a:chExt cx="482371" cy="60293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82369" cy="602927"/>
            </a:xfrm>
            <a:custGeom>
              <a:avLst/>
              <a:gdLst/>
              <a:ahLst/>
              <a:cxnLst/>
              <a:rect r="r" b="b" t="t" l="l"/>
              <a:pathLst>
                <a:path h="602927" w="482369">
                  <a:moveTo>
                    <a:pt x="0" y="0"/>
                  </a:moveTo>
                  <a:lnTo>
                    <a:pt x="482369" y="0"/>
                  </a:lnTo>
                  <a:lnTo>
                    <a:pt x="482369" y="602927"/>
                  </a:lnTo>
                  <a:lnTo>
                    <a:pt x="0" y="60292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10371" t="0" r="-110372" b="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19050"/>
              <a:ext cx="482371" cy="62198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32"/>
                </a:lnSpc>
              </a:pPr>
              <a:r>
                <a:rPr lang="en-US" sz="2777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4</a:t>
              </a: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1740522" y="6652927"/>
            <a:ext cx="4148452" cy="405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3"/>
              </a:lnSpc>
            </a:pPr>
            <a:r>
              <a:rPr lang="en-US" sz="2326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Write-Ahead Queue for Sync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740522" y="7187079"/>
            <a:ext cx="7116242" cy="433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9"/>
              </a:lnSpc>
            </a:pPr>
            <a:r>
              <a:rPr lang="en-US" sz="1876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Events encrypted to local storage, auto-synced on reconnect.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988219" y="8025279"/>
            <a:ext cx="552126" cy="552136"/>
            <a:chOff x="0" y="0"/>
            <a:chExt cx="736168" cy="73618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36092" cy="736219"/>
            </a:xfrm>
            <a:custGeom>
              <a:avLst/>
              <a:gdLst/>
              <a:ahLst/>
              <a:cxnLst/>
              <a:rect r="r" b="b" t="t" l="l"/>
              <a:pathLst>
                <a:path h="736219" w="736092">
                  <a:moveTo>
                    <a:pt x="0" y="137414"/>
                  </a:moveTo>
                  <a:cubicBezTo>
                    <a:pt x="0" y="61595"/>
                    <a:pt x="61595" y="0"/>
                    <a:pt x="137414" y="0"/>
                  </a:cubicBezTo>
                  <a:lnTo>
                    <a:pt x="598678" y="0"/>
                  </a:lnTo>
                  <a:cubicBezTo>
                    <a:pt x="674624" y="0"/>
                    <a:pt x="736092" y="61595"/>
                    <a:pt x="736092" y="137414"/>
                  </a:cubicBezTo>
                  <a:lnTo>
                    <a:pt x="736092" y="598805"/>
                  </a:lnTo>
                  <a:cubicBezTo>
                    <a:pt x="736092" y="674751"/>
                    <a:pt x="674497" y="736219"/>
                    <a:pt x="598678" y="736219"/>
                  </a:cubicBezTo>
                  <a:lnTo>
                    <a:pt x="137414" y="736219"/>
                  </a:lnTo>
                  <a:cubicBezTo>
                    <a:pt x="61595" y="736219"/>
                    <a:pt x="0" y="674624"/>
                    <a:pt x="0" y="598805"/>
                  </a:cubicBezTo>
                  <a:close/>
                </a:path>
              </a:pathLst>
            </a:custGeom>
            <a:solidFill>
              <a:srgbClr val="404040"/>
            </a:solidFill>
            <a:ln w="9532" cap="sq">
              <a:solidFill>
                <a:srgbClr val="595959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1083326" y="8075171"/>
            <a:ext cx="361779" cy="452199"/>
            <a:chOff x="0" y="0"/>
            <a:chExt cx="482371" cy="602932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482369" cy="602927"/>
            </a:xfrm>
            <a:custGeom>
              <a:avLst/>
              <a:gdLst/>
              <a:ahLst/>
              <a:cxnLst/>
              <a:rect r="r" b="b" t="t" l="l"/>
              <a:pathLst>
                <a:path h="602927" w="482369">
                  <a:moveTo>
                    <a:pt x="0" y="0"/>
                  </a:moveTo>
                  <a:lnTo>
                    <a:pt x="482369" y="0"/>
                  </a:lnTo>
                  <a:lnTo>
                    <a:pt x="482369" y="602927"/>
                  </a:lnTo>
                  <a:lnTo>
                    <a:pt x="0" y="60292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10371" t="0" r="-110372" b="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19050"/>
              <a:ext cx="482371" cy="62198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32"/>
                </a:lnSpc>
              </a:pPr>
              <a:r>
                <a:rPr lang="en-US" sz="2777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5</a:t>
              </a: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1740522" y="8084287"/>
            <a:ext cx="3770290" cy="405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3"/>
              </a:lnSpc>
            </a:pPr>
            <a:r>
              <a:rPr lang="en-US" sz="2326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5-Frame Burst Enrollment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740522" y="8618439"/>
            <a:ext cx="7116242" cy="433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9"/>
              </a:lnSpc>
            </a:pPr>
            <a:r>
              <a:rPr lang="en-US" sz="1876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Averages 5 frames, reducing enrollment variance by ~40%.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81616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991" y="751751"/>
            <a:ext cx="11082680" cy="747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26"/>
              </a:lnSpc>
            </a:pPr>
            <a:r>
              <a:rPr lang="en-US" sz="4428">
                <a:solidFill>
                  <a:srgbClr val="DDDDDD"/>
                </a:solidFill>
                <a:latin typeface="Arimo"/>
                <a:ea typeface="Arimo"/>
                <a:cs typeface="Arimo"/>
                <a:sym typeface="Arimo"/>
              </a:rPr>
              <a:t>Liveness Detection: Beating Spoofing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991" y="1924383"/>
            <a:ext cx="3752564" cy="383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6"/>
              </a:lnSpc>
            </a:pPr>
            <a:r>
              <a:rPr lang="en-US" sz="2176">
                <a:solidFill>
                  <a:srgbClr val="DDDDDD"/>
                </a:solidFill>
                <a:latin typeface="Arimo"/>
                <a:ea typeface="Arimo"/>
                <a:cs typeface="Arimo"/>
                <a:sym typeface="Arimo"/>
              </a:rPr>
              <a:t>Step-by-Step Flow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92991" y="2511800"/>
            <a:ext cx="453971" cy="283740"/>
            <a:chOff x="0" y="0"/>
            <a:chExt cx="605295" cy="3783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05295" cy="378320"/>
            </a:xfrm>
            <a:custGeom>
              <a:avLst/>
              <a:gdLst/>
              <a:ahLst/>
              <a:cxnLst/>
              <a:rect r="r" b="b" t="t" l="l"/>
              <a:pathLst>
                <a:path h="378320" w="605295">
                  <a:moveTo>
                    <a:pt x="0" y="0"/>
                  </a:moveTo>
                  <a:lnTo>
                    <a:pt x="605295" y="0"/>
                  </a:lnTo>
                  <a:lnTo>
                    <a:pt x="605295" y="378320"/>
                  </a:lnTo>
                  <a:lnTo>
                    <a:pt x="0" y="3783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0192" t="0" r="-30192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605295" cy="3973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8F8F8F"/>
                  </a:solidFill>
                  <a:latin typeface="Arimo"/>
                  <a:ea typeface="Arimo"/>
                  <a:cs typeface="Arimo"/>
                  <a:sym typeface="Arimo"/>
                </a:rPr>
                <a:t>01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92991" y="2868968"/>
            <a:ext cx="7881052" cy="28594"/>
            <a:chOff x="0" y="0"/>
            <a:chExt cx="10508069" cy="3812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508107" cy="38100"/>
            </a:xfrm>
            <a:custGeom>
              <a:avLst/>
              <a:gdLst/>
              <a:ahLst/>
              <a:cxnLst/>
              <a:rect r="r" b="b" t="t" l="l"/>
              <a:pathLst>
                <a:path h="38100" w="10508107">
                  <a:moveTo>
                    <a:pt x="0" y="0"/>
                  </a:moveTo>
                  <a:lnTo>
                    <a:pt x="10508107" y="0"/>
                  </a:lnTo>
                  <a:lnTo>
                    <a:pt x="10508107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992991" y="3011081"/>
            <a:ext cx="2837469" cy="383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6"/>
              </a:lnSpc>
            </a:pPr>
            <a:r>
              <a:rPr lang="en-US" sz="2176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Random Challenge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92991" y="3518706"/>
            <a:ext cx="7881052" cy="383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5"/>
              </a:lnSpc>
            </a:pPr>
            <a:r>
              <a:rPr lang="en-US" sz="1726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"Turn head LEFT" or "RIGHT".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92991" y="4254446"/>
            <a:ext cx="453971" cy="283740"/>
            <a:chOff x="0" y="0"/>
            <a:chExt cx="605295" cy="3783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05295" cy="378320"/>
            </a:xfrm>
            <a:custGeom>
              <a:avLst/>
              <a:gdLst/>
              <a:ahLst/>
              <a:cxnLst/>
              <a:rect r="r" b="b" t="t" l="l"/>
              <a:pathLst>
                <a:path h="378320" w="605295">
                  <a:moveTo>
                    <a:pt x="0" y="0"/>
                  </a:moveTo>
                  <a:lnTo>
                    <a:pt x="605295" y="0"/>
                  </a:lnTo>
                  <a:lnTo>
                    <a:pt x="605295" y="378320"/>
                  </a:lnTo>
                  <a:lnTo>
                    <a:pt x="0" y="3783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0192" t="0" r="-30192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605295" cy="3973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8F8F8F"/>
                  </a:solidFill>
                  <a:latin typeface="Arimo"/>
                  <a:ea typeface="Arimo"/>
                  <a:cs typeface="Arimo"/>
                  <a:sym typeface="Arimo"/>
                </a:rPr>
                <a:t>02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92991" y="4611624"/>
            <a:ext cx="7881052" cy="28594"/>
            <a:chOff x="0" y="0"/>
            <a:chExt cx="10508069" cy="3812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508107" cy="38100"/>
            </a:xfrm>
            <a:custGeom>
              <a:avLst/>
              <a:gdLst/>
              <a:ahLst/>
              <a:cxnLst/>
              <a:rect r="r" b="b" t="t" l="l"/>
              <a:pathLst>
                <a:path h="38100" w="10508107">
                  <a:moveTo>
                    <a:pt x="0" y="0"/>
                  </a:moveTo>
                  <a:lnTo>
                    <a:pt x="10508107" y="0"/>
                  </a:lnTo>
                  <a:lnTo>
                    <a:pt x="10508107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992991" y="4753737"/>
            <a:ext cx="2837469" cy="383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6"/>
              </a:lnSpc>
            </a:pPr>
            <a:r>
              <a:rPr lang="en-US" sz="2176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Landmark Analysis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92991" y="5261362"/>
            <a:ext cx="7881052" cy="383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5"/>
              </a:lnSpc>
            </a:pPr>
            <a:r>
              <a:rPr lang="en-US" sz="1726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Nose-to-eye distance ratios calculated.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992991" y="5997102"/>
            <a:ext cx="453971" cy="283740"/>
            <a:chOff x="0" y="0"/>
            <a:chExt cx="605295" cy="37832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05295" cy="378320"/>
            </a:xfrm>
            <a:custGeom>
              <a:avLst/>
              <a:gdLst/>
              <a:ahLst/>
              <a:cxnLst/>
              <a:rect r="r" b="b" t="t" l="l"/>
              <a:pathLst>
                <a:path h="378320" w="605295">
                  <a:moveTo>
                    <a:pt x="0" y="0"/>
                  </a:moveTo>
                  <a:lnTo>
                    <a:pt x="605295" y="0"/>
                  </a:lnTo>
                  <a:lnTo>
                    <a:pt x="605295" y="378320"/>
                  </a:lnTo>
                  <a:lnTo>
                    <a:pt x="0" y="3783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0192" t="0" r="-30192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9050"/>
              <a:ext cx="605295" cy="3973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8F8F8F"/>
                  </a:solidFill>
                  <a:latin typeface="Arimo"/>
                  <a:ea typeface="Arimo"/>
                  <a:cs typeface="Arimo"/>
                  <a:sym typeface="Arimo"/>
                </a:rPr>
                <a:t>03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92991" y="6354270"/>
            <a:ext cx="7881052" cy="28594"/>
            <a:chOff x="0" y="0"/>
            <a:chExt cx="10508069" cy="38125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508107" cy="38100"/>
            </a:xfrm>
            <a:custGeom>
              <a:avLst/>
              <a:gdLst/>
              <a:ahLst/>
              <a:cxnLst/>
              <a:rect r="r" b="b" t="t" l="l"/>
              <a:pathLst>
                <a:path h="38100" w="10508107">
                  <a:moveTo>
                    <a:pt x="0" y="0"/>
                  </a:moveTo>
                  <a:lnTo>
                    <a:pt x="10508107" y="0"/>
                  </a:lnTo>
                  <a:lnTo>
                    <a:pt x="10508107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992991" y="6496383"/>
            <a:ext cx="2837469" cy="383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6"/>
              </a:lnSpc>
            </a:pPr>
            <a:r>
              <a:rPr lang="en-US" sz="2176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Threshold Check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92991" y="7004009"/>
            <a:ext cx="7881052" cy="383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5"/>
              </a:lnSpc>
            </a:pPr>
            <a:r>
              <a:rPr lang="en-US" sz="1726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Validates ~25° head turn in requested direction.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992991" y="7739748"/>
            <a:ext cx="453971" cy="283740"/>
            <a:chOff x="0" y="0"/>
            <a:chExt cx="605295" cy="3783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05295" cy="378320"/>
            </a:xfrm>
            <a:custGeom>
              <a:avLst/>
              <a:gdLst/>
              <a:ahLst/>
              <a:cxnLst/>
              <a:rect r="r" b="b" t="t" l="l"/>
              <a:pathLst>
                <a:path h="378320" w="605295">
                  <a:moveTo>
                    <a:pt x="0" y="0"/>
                  </a:moveTo>
                  <a:lnTo>
                    <a:pt x="605295" y="0"/>
                  </a:lnTo>
                  <a:lnTo>
                    <a:pt x="605295" y="378320"/>
                  </a:lnTo>
                  <a:lnTo>
                    <a:pt x="0" y="3783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0192" t="0" r="-30192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19050"/>
              <a:ext cx="605295" cy="3973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8F8F8F"/>
                  </a:solidFill>
                  <a:latin typeface="Arimo"/>
                  <a:ea typeface="Arimo"/>
                  <a:cs typeface="Arimo"/>
                  <a:sym typeface="Arimo"/>
                </a:rPr>
                <a:t>04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992991" y="8096917"/>
            <a:ext cx="7881052" cy="28594"/>
            <a:chOff x="0" y="0"/>
            <a:chExt cx="10508069" cy="38125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508107" cy="38100"/>
            </a:xfrm>
            <a:custGeom>
              <a:avLst/>
              <a:gdLst/>
              <a:ahLst/>
              <a:cxnLst/>
              <a:rect r="r" b="b" t="t" l="l"/>
              <a:pathLst>
                <a:path h="38100" w="10508107">
                  <a:moveTo>
                    <a:pt x="0" y="0"/>
                  </a:moveTo>
                  <a:lnTo>
                    <a:pt x="10508107" y="0"/>
                  </a:lnTo>
                  <a:lnTo>
                    <a:pt x="10508107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992991" y="8239039"/>
            <a:ext cx="2837469" cy="383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6"/>
              </a:lnSpc>
            </a:pPr>
            <a:r>
              <a:rPr lang="en-US" sz="2176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Temporal Filter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92991" y="8746665"/>
            <a:ext cx="7881052" cy="383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5"/>
              </a:lnSpc>
            </a:pPr>
            <a:r>
              <a:rPr lang="en-US" sz="1726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Turn must hold for 2 consecutive frames.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437332" y="1924383"/>
            <a:ext cx="4153062" cy="383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6"/>
              </a:lnSpc>
            </a:pPr>
            <a:r>
              <a:rPr lang="en-US" sz="2176">
                <a:solidFill>
                  <a:srgbClr val="DDDDDD"/>
                </a:solidFill>
                <a:latin typeface="Arimo"/>
                <a:ea typeface="Arimo"/>
                <a:cs typeface="Arimo"/>
                <a:sym typeface="Arimo"/>
              </a:rPr>
              <a:t>Why This Stops Attacks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9607572" y="2511800"/>
            <a:ext cx="28594" cy="4734354"/>
            <a:chOff x="0" y="0"/>
            <a:chExt cx="38125" cy="6312472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38100" cy="6312408"/>
            </a:xfrm>
            <a:custGeom>
              <a:avLst/>
              <a:gdLst/>
              <a:ahLst/>
              <a:cxnLst/>
              <a:rect r="r" b="b" t="t" l="l"/>
              <a:pathLst>
                <a:path h="6312408" w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lnTo>
                    <a:pt x="38100" y="6293358"/>
                  </a:lnTo>
                  <a:cubicBezTo>
                    <a:pt x="38100" y="6303899"/>
                    <a:pt x="29591" y="6312408"/>
                    <a:pt x="19050" y="6312408"/>
                  </a:cubicBezTo>
                  <a:cubicBezTo>
                    <a:pt x="8509" y="6312408"/>
                    <a:pt x="0" y="6303899"/>
                    <a:pt x="0" y="6293358"/>
                  </a:cubicBezTo>
                  <a:close/>
                </a:path>
              </a:pathLst>
            </a:custGeom>
            <a:solidFill>
              <a:srgbClr val="595959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9578978" y="3165519"/>
            <a:ext cx="680961" cy="28594"/>
            <a:chOff x="0" y="0"/>
            <a:chExt cx="907948" cy="38125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907923" cy="38100"/>
            </a:xfrm>
            <a:custGeom>
              <a:avLst/>
              <a:gdLst/>
              <a:ahLst/>
              <a:cxnLst/>
              <a:rect r="r" b="b" t="t" l="l"/>
              <a:pathLst>
                <a:path h="38100" w="907923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888873" y="0"/>
                  </a:lnTo>
                  <a:cubicBezTo>
                    <a:pt x="899414" y="0"/>
                    <a:pt x="907923" y="8509"/>
                    <a:pt x="907923" y="19050"/>
                  </a:cubicBezTo>
                  <a:cubicBezTo>
                    <a:pt x="907923" y="29591"/>
                    <a:pt x="899414" y="38100"/>
                    <a:pt x="888873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595959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9522457" y="3094692"/>
            <a:ext cx="170240" cy="170240"/>
            <a:chOff x="0" y="0"/>
            <a:chExt cx="226987" cy="226987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27076" cy="227076"/>
            </a:xfrm>
            <a:custGeom>
              <a:avLst/>
              <a:gdLst/>
              <a:ahLst/>
              <a:cxnLst/>
              <a:rect r="r" b="b" t="t" l="l"/>
              <a:pathLst>
                <a:path h="227076" w="227076">
                  <a:moveTo>
                    <a:pt x="0" y="113538"/>
                  </a:moveTo>
                  <a:cubicBezTo>
                    <a:pt x="0" y="50800"/>
                    <a:pt x="50800" y="0"/>
                    <a:pt x="113538" y="0"/>
                  </a:cubicBezTo>
                  <a:cubicBezTo>
                    <a:pt x="176276" y="0"/>
                    <a:pt x="227076" y="50800"/>
                    <a:pt x="227076" y="113538"/>
                  </a:cubicBezTo>
                  <a:cubicBezTo>
                    <a:pt x="227076" y="176276"/>
                    <a:pt x="176276" y="227076"/>
                    <a:pt x="113538" y="227076"/>
                  </a:cubicBezTo>
                  <a:cubicBezTo>
                    <a:pt x="50800" y="227076"/>
                    <a:pt x="0" y="176149"/>
                    <a:pt x="0" y="11353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0283762" y="2507037"/>
            <a:ext cx="7039385" cy="1345568"/>
            <a:chOff x="0" y="0"/>
            <a:chExt cx="9385846" cy="1794091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9385808" cy="1794129"/>
            </a:xfrm>
            <a:custGeom>
              <a:avLst/>
              <a:gdLst/>
              <a:ahLst/>
              <a:cxnLst/>
              <a:rect r="r" b="b" t="t" l="l"/>
              <a:pathLst>
                <a:path h="1794129" w="9385808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lnTo>
                    <a:pt x="9257792" y="0"/>
                  </a:lnTo>
                  <a:cubicBezTo>
                    <a:pt x="9328531" y="0"/>
                    <a:pt x="9385808" y="57277"/>
                    <a:pt x="9385808" y="128016"/>
                  </a:cubicBezTo>
                  <a:lnTo>
                    <a:pt x="9385808" y="1666113"/>
                  </a:lnTo>
                  <a:cubicBezTo>
                    <a:pt x="9385808" y="1736852"/>
                    <a:pt x="9328531" y="1794129"/>
                    <a:pt x="9257792" y="1794129"/>
                  </a:cubicBezTo>
                  <a:lnTo>
                    <a:pt x="128016" y="1794129"/>
                  </a:lnTo>
                  <a:cubicBezTo>
                    <a:pt x="57277" y="1794129"/>
                    <a:pt x="0" y="1736725"/>
                    <a:pt x="0" y="1666113"/>
                  </a:cubicBezTo>
                  <a:close/>
                </a:path>
              </a:pathLst>
            </a:custGeom>
            <a:solidFill>
              <a:srgbClr val="404040"/>
            </a:solidFill>
            <a:ln w="9532" cap="sq">
              <a:solidFill>
                <a:srgbClr val="595959"/>
              </a:solidFill>
              <a:prstDash val="solid"/>
              <a:miter/>
            </a:ln>
          </p:spPr>
        </p:sp>
      </p:grpSp>
      <p:sp>
        <p:nvSpPr>
          <p:cNvPr name="TextBox 45" id="45"/>
          <p:cNvSpPr txBox="true"/>
          <p:nvPr/>
        </p:nvSpPr>
        <p:spPr>
          <a:xfrm rot="0">
            <a:off x="10525049" y="2719749"/>
            <a:ext cx="3103626" cy="383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6"/>
              </a:lnSpc>
            </a:pPr>
            <a:r>
              <a:rPr lang="en-US" sz="2176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📷</a:t>
            </a:r>
            <a:r>
              <a:rPr lang="en-US" sz="2176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Printed Photograph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0525049" y="3227375"/>
            <a:ext cx="6556820" cy="383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5"/>
              </a:lnSpc>
            </a:pPr>
            <a:r>
              <a:rPr lang="en-US" sz="1726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BLOCKED</a:t>
            </a:r>
            <a:r>
              <a:rPr lang="en-US" sz="1726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— Cannot respond to head-turn prompt.</a:t>
            </a:r>
          </a:p>
        </p:txBody>
      </p:sp>
      <p:grpSp>
        <p:nvGrpSpPr>
          <p:cNvPr name="Group 47" id="47"/>
          <p:cNvGrpSpPr/>
          <p:nvPr/>
        </p:nvGrpSpPr>
        <p:grpSpPr>
          <a:xfrm rot="0">
            <a:off x="9578978" y="4864675"/>
            <a:ext cx="680961" cy="28594"/>
            <a:chOff x="0" y="0"/>
            <a:chExt cx="907948" cy="38125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907923" cy="38100"/>
            </a:xfrm>
            <a:custGeom>
              <a:avLst/>
              <a:gdLst/>
              <a:ahLst/>
              <a:cxnLst/>
              <a:rect r="r" b="b" t="t" l="l"/>
              <a:pathLst>
                <a:path h="38100" w="907923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888873" y="0"/>
                  </a:lnTo>
                  <a:cubicBezTo>
                    <a:pt x="899414" y="0"/>
                    <a:pt x="907923" y="8509"/>
                    <a:pt x="907923" y="19050"/>
                  </a:cubicBezTo>
                  <a:cubicBezTo>
                    <a:pt x="907923" y="29591"/>
                    <a:pt x="899414" y="38100"/>
                    <a:pt x="888873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595959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9522457" y="4793856"/>
            <a:ext cx="170240" cy="170240"/>
            <a:chOff x="0" y="0"/>
            <a:chExt cx="226987" cy="226987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227076" cy="227076"/>
            </a:xfrm>
            <a:custGeom>
              <a:avLst/>
              <a:gdLst/>
              <a:ahLst/>
              <a:cxnLst/>
              <a:rect r="r" b="b" t="t" l="l"/>
              <a:pathLst>
                <a:path h="227076" w="227076">
                  <a:moveTo>
                    <a:pt x="0" y="113538"/>
                  </a:moveTo>
                  <a:cubicBezTo>
                    <a:pt x="0" y="50800"/>
                    <a:pt x="50800" y="0"/>
                    <a:pt x="113538" y="0"/>
                  </a:cubicBezTo>
                  <a:cubicBezTo>
                    <a:pt x="176276" y="0"/>
                    <a:pt x="227076" y="50800"/>
                    <a:pt x="227076" y="113538"/>
                  </a:cubicBezTo>
                  <a:cubicBezTo>
                    <a:pt x="227076" y="176276"/>
                    <a:pt x="176276" y="227076"/>
                    <a:pt x="113538" y="227076"/>
                  </a:cubicBezTo>
                  <a:cubicBezTo>
                    <a:pt x="50800" y="227076"/>
                    <a:pt x="0" y="176149"/>
                    <a:pt x="0" y="11353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10283762" y="4206192"/>
            <a:ext cx="7039385" cy="1345568"/>
            <a:chOff x="0" y="0"/>
            <a:chExt cx="9385846" cy="1794091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9385808" cy="1794129"/>
            </a:xfrm>
            <a:custGeom>
              <a:avLst/>
              <a:gdLst/>
              <a:ahLst/>
              <a:cxnLst/>
              <a:rect r="r" b="b" t="t" l="l"/>
              <a:pathLst>
                <a:path h="1794129" w="9385808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lnTo>
                    <a:pt x="9257792" y="0"/>
                  </a:lnTo>
                  <a:cubicBezTo>
                    <a:pt x="9328531" y="0"/>
                    <a:pt x="9385808" y="57277"/>
                    <a:pt x="9385808" y="128016"/>
                  </a:cubicBezTo>
                  <a:lnTo>
                    <a:pt x="9385808" y="1666113"/>
                  </a:lnTo>
                  <a:cubicBezTo>
                    <a:pt x="9385808" y="1736852"/>
                    <a:pt x="9328531" y="1794129"/>
                    <a:pt x="9257792" y="1794129"/>
                  </a:cubicBezTo>
                  <a:lnTo>
                    <a:pt x="128016" y="1794129"/>
                  </a:lnTo>
                  <a:cubicBezTo>
                    <a:pt x="57277" y="1794129"/>
                    <a:pt x="0" y="1736725"/>
                    <a:pt x="0" y="1666113"/>
                  </a:cubicBezTo>
                  <a:close/>
                </a:path>
              </a:pathLst>
            </a:custGeom>
            <a:solidFill>
              <a:srgbClr val="404040"/>
            </a:solidFill>
            <a:ln w="9532" cap="sq">
              <a:solidFill>
                <a:srgbClr val="595959"/>
              </a:solidFill>
              <a:prstDash val="solid"/>
              <a:miter/>
            </a:ln>
          </p:spPr>
        </p:sp>
      </p:grpSp>
      <p:sp>
        <p:nvSpPr>
          <p:cNvPr name="TextBox 53" id="53"/>
          <p:cNvSpPr txBox="true"/>
          <p:nvPr/>
        </p:nvSpPr>
        <p:spPr>
          <a:xfrm rot="0">
            <a:off x="10525049" y="4418905"/>
            <a:ext cx="3236481" cy="383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6"/>
              </a:lnSpc>
            </a:pPr>
            <a:r>
              <a:rPr lang="en-US" sz="2176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📱</a:t>
            </a:r>
            <a:r>
              <a:rPr lang="en-US" sz="2176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Screen Video Replay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0525049" y="4926530"/>
            <a:ext cx="6556820" cy="383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5"/>
              </a:lnSpc>
            </a:pPr>
            <a:r>
              <a:rPr lang="en-US" sz="1726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BLOCKED</a:t>
            </a:r>
            <a:r>
              <a:rPr lang="en-US" sz="1726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— Pre-recorded video cannot match random prompt.</a:t>
            </a:r>
          </a:p>
        </p:txBody>
      </p:sp>
      <p:grpSp>
        <p:nvGrpSpPr>
          <p:cNvPr name="Group 55" id="55"/>
          <p:cNvGrpSpPr/>
          <p:nvPr/>
        </p:nvGrpSpPr>
        <p:grpSpPr>
          <a:xfrm rot="0">
            <a:off x="9578978" y="6563830"/>
            <a:ext cx="680961" cy="28594"/>
            <a:chOff x="0" y="0"/>
            <a:chExt cx="907948" cy="38125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907923" cy="38100"/>
            </a:xfrm>
            <a:custGeom>
              <a:avLst/>
              <a:gdLst/>
              <a:ahLst/>
              <a:cxnLst/>
              <a:rect r="r" b="b" t="t" l="l"/>
              <a:pathLst>
                <a:path h="38100" w="907923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888873" y="0"/>
                  </a:lnTo>
                  <a:cubicBezTo>
                    <a:pt x="899414" y="0"/>
                    <a:pt x="907923" y="8509"/>
                    <a:pt x="907923" y="19050"/>
                  </a:cubicBezTo>
                  <a:cubicBezTo>
                    <a:pt x="907923" y="29591"/>
                    <a:pt x="899414" y="38100"/>
                    <a:pt x="888873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595959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9522457" y="6493012"/>
            <a:ext cx="170240" cy="170240"/>
            <a:chOff x="0" y="0"/>
            <a:chExt cx="226987" cy="226987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227076" cy="227076"/>
            </a:xfrm>
            <a:custGeom>
              <a:avLst/>
              <a:gdLst/>
              <a:ahLst/>
              <a:cxnLst/>
              <a:rect r="r" b="b" t="t" l="l"/>
              <a:pathLst>
                <a:path h="227076" w="227076">
                  <a:moveTo>
                    <a:pt x="0" y="113538"/>
                  </a:moveTo>
                  <a:cubicBezTo>
                    <a:pt x="0" y="50800"/>
                    <a:pt x="50800" y="0"/>
                    <a:pt x="113538" y="0"/>
                  </a:cubicBezTo>
                  <a:cubicBezTo>
                    <a:pt x="176276" y="0"/>
                    <a:pt x="227076" y="50800"/>
                    <a:pt x="227076" y="113538"/>
                  </a:cubicBezTo>
                  <a:cubicBezTo>
                    <a:pt x="227076" y="176276"/>
                    <a:pt x="176276" y="227076"/>
                    <a:pt x="113538" y="227076"/>
                  </a:cubicBezTo>
                  <a:cubicBezTo>
                    <a:pt x="50800" y="227076"/>
                    <a:pt x="0" y="176149"/>
                    <a:pt x="0" y="11353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10283762" y="5905348"/>
            <a:ext cx="7039385" cy="1345568"/>
            <a:chOff x="0" y="0"/>
            <a:chExt cx="9385846" cy="1794091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9385808" cy="1794129"/>
            </a:xfrm>
            <a:custGeom>
              <a:avLst/>
              <a:gdLst/>
              <a:ahLst/>
              <a:cxnLst/>
              <a:rect r="r" b="b" t="t" l="l"/>
              <a:pathLst>
                <a:path h="1794129" w="9385808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lnTo>
                    <a:pt x="9257792" y="0"/>
                  </a:lnTo>
                  <a:cubicBezTo>
                    <a:pt x="9328531" y="0"/>
                    <a:pt x="9385808" y="57277"/>
                    <a:pt x="9385808" y="128016"/>
                  </a:cubicBezTo>
                  <a:lnTo>
                    <a:pt x="9385808" y="1666113"/>
                  </a:lnTo>
                  <a:cubicBezTo>
                    <a:pt x="9385808" y="1736852"/>
                    <a:pt x="9328531" y="1794129"/>
                    <a:pt x="9257792" y="1794129"/>
                  </a:cubicBezTo>
                  <a:lnTo>
                    <a:pt x="128016" y="1794129"/>
                  </a:lnTo>
                  <a:cubicBezTo>
                    <a:pt x="57277" y="1794129"/>
                    <a:pt x="0" y="1736725"/>
                    <a:pt x="0" y="1666113"/>
                  </a:cubicBezTo>
                  <a:close/>
                </a:path>
              </a:pathLst>
            </a:custGeom>
            <a:solidFill>
              <a:srgbClr val="404040"/>
            </a:solidFill>
            <a:ln w="9532" cap="sq">
              <a:solidFill>
                <a:srgbClr val="595959"/>
              </a:solidFill>
              <a:prstDash val="solid"/>
              <a:miter/>
            </a:ln>
          </p:spPr>
        </p:sp>
      </p:grpSp>
      <p:sp>
        <p:nvSpPr>
          <p:cNvPr name="TextBox 61" id="61"/>
          <p:cNvSpPr txBox="true"/>
          <p:nvPr/>
        </p:nvSpPr>
        <p:spPr>
          <a:xfrm rot="0">
            <a:off x="10525049" y="6118069"/>
            <a:ext cx="2837469" cy="383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6"/>
              </a:lnSpc>
            </a:pPr>
            <a:r>
              <a:rPr lang="en-US" sz="2176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🎭</a:t>
            </a:r>
            <a:r>
              <a:rPr lang="en-US" sz="2176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3D Mask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0525049" y="6625695"/>
            <a:ext cx="6556820" cy="383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5"/>
              </a:lnSpc>
            </a:pPr>
            <a:r>
              <a:rPr lang="en-US" sz="1726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BLOCKED</a:t>
            </a:r>
            <a:r>
              <a:rPr lang="en-US" sz="1726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— Landmarks shift unnaturally on rigid surfaces.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81616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853430" y="622925"/>
            <a:ext cx="9816979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01"/>
              </a:lnSpc>
            </a:pPr>
            <a:r>
              <a:rPr lang="en-US" sz="4728">
                <a:solidFill>
                  <a:srgbClr val="DDDDDD"/>
                </a:solidFill>
                <a:latin typeface="Arimo"/>
                <a:ea typeface="Arimo"/>
                <a:cs typeface="Arimo"/>
                <a:sym typeface="Arimo"/>
              </a:rPr>
              <a:t>CLAHE: The Lighting Equaliser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853430" y="1982448"/>
            <a:ext cx="8000057" cy="5758491"/>
            <a:chOff x="0" y="0"/>
            <a:chExt cx="10666743" cy="7677988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10666730" cy="7678039"/>
            </a:xfrm>
            <a:custGeom>
              <a:avLst/>
              <a:gdLst/>
              <a:ahLst/>
              <a:cxnLst/>
              <a:rect r="r" b="b" t="t" l="l"/>
              <a:pathLst>
                <a:path h="7678039" w="10666730">
                  <a:moveTo>
                    <a:pt x="0" y="0"/>
                  </a:moveTo>
                  <a:lnTo>
                    <a:pt x="10666730" y="0"/>
                  </a:lnTo>
                  <a:lnTo>
                    <a:pt x="10666730" y="7678039"/>
                  </a:lnTo>
                  <a:lnTo>
                    <a:pt x="0" y="76780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6" r="0" b="-6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9457887" y="1927660"/>
            <a:ext cx="5546855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3"/>
              </a:lnSpc>
            </a:pPr>
            <a:r>
              <a:rPr lang="en-US" sz="2326">
                <a:solidFill>
                  <a:srgbClr val="DDDDDD"/>
                </a:solidFill>
                <a:latin typeface="Arimo"/>
                <a:ea typeface="Arimo"/>
                <a:cs typeface="Arimo"/>
                <a:sym typeface="Arimo"/>
              </a:rPr>
              <a:t>Adaptive Enhancement Results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457887" y="2470452"/>
            <a:ext cx="8000057" cy="1164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2"/>
              </a:lnSpc>
            </a:pPr>
            <a:r>
              <a:rPr lang="en-US" sz="1876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CLAHE divides the 160×160 face crop into an 8×8 grid, builds per-tile histograms, clips peaks at 2.0×, and remaps pixels via lookup table — all in </a:t>
            </a:r>
            <a:r>
              <a:rPr lang="en-US" sz="1876" b="true">
                <a:solidFill>
                  <a:srgbClr val="8F8F8F"/>
                </a:solidFill>
                <a:latin typeface="Arimo Bold"/>
                <a:ea typeface="Arimo Bold"/>
                <a:cs typeface="Arimo Bold"/>
                <a:sym typeface="Arimo Bold"/>
              </a:rPr>
              <a:t>5ms per frame</a:t>
            </a:r>
            <a:r>
              <a:rPr lang="en-US" sz="1876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</a:p>
        </p:txBody>
      </p:sp>
      <p:sp>
        <p:nvSpPr>
          <p:cNvPr name="Freeform 11" id="11" descr="preencoded.png"/>
          <p:cNvSpPr/>
          <p:nvPr/>
        </p:nvSpPr>
        <p:spPr>
          <a:xfrm flipH="false" flipV="false" rot="0">
            <a:off x="824836" y="8212207"/>
            <a:ext cx="5420554" cy="1414224"/>
          </a:xfrm>
          <a:custGeom>
            <a:avLst/>
            <a:gdLst/>
            <a:ahLst/>
            <a:cxnLst/>
            <a:rect r="r" b="b" t="t" l="l"/>
            <a:pathLst>
              <a:path h="1414224" w="5420554">
                <a:moveTo>
                  <a:pt x="0" y="0"/>
                </a:moveTo>
                <a:lnTo>
                  <a:pt x="5420554" y="0"/>
                </a:lnTo>
                <a:lnTo>
                  <a:pt x="5420554" y="1414225"/>
                </a:lnTo>
                <a:lnTo>
                  <a:pt x="0" y="141422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432" r="0" b="-433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068192" y="8456047"/>
            <a:ext cx="3048076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03"/>
              </a:lnSpc>
            </a:pPr>
            <a:r>
              <a:rPr lang="en-US" sz="2326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+7.4%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11637" y="8915133"/>
            <a:ext cx="4761338" cy="438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2"/>
              </a:lnSpc>
            </a:pPr>
            <a:r>
              <a:rPr lang="en-US" sz="1876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Direct sunlight</a:t>
            </a:r>
          </a:p>
        </p:txBody>
      </p:sp>
      <p:sp>
        <p:nvSpPr>
          <p:cNvPr name="Freeform 14" id="14" descr="preencoded.png"/>
          <p:cNvSpPr/>
          <p:nvPr/>
        </p:nvSpPr>
        <p:spPr>
          <a:xfrm flipH="false" flipV="false" rot="0">
            <a:off x="6426194" y="8212207"/>
            <a:ext cx="5420697" cy="1414224"/>
          </a:xfrm>
          <a:custGeom>
            <a:avLst/>
            <a:gdLst/>
            <a:ahLst/>
            <a:cxnLst/>
            <a:rect r="r" b="b" t="t" l="l"/>
            <a:pathLst>
              <a:path h="1414224" w="5420697">
                <a:moveTo>
                  <a:pt x="0" y="0"/>
                </a:moveTo>
                <a:lnTo>
                  <a:pt x="5420696" y="0"/>
                </a:lnTo>
                <a:lnTo>
                  <a:pt x="5420696" y="1414225"/>
                </a:lnTo>
                <a:lnTo>
                  <a:pt x="0" y="141422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433" r="0" b="-434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7669701" y="8456047"/>
            <a:ext cx="3048076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03"/>
              </a:lnSpc>
            </a:pPr>
            <a:r>
              <a:rPr lang="en-US" sz="2326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+12.1%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812994" y="8915133"/>
            <a:ext cx="4761490" cy="438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2"/>
              </a:lnSpc>
            </a:pPr>
            <a:r>
              <a:rPr lang="en-US" sz="1876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Deep shadow</a:t>
            </a:r>
          </a:p>
        </p:txBody>
      </p:sp>
      <p:sp>
        <p:nvSpPr>
          <p:cNvPr name="Freeform 17" id="17" descr="preencoded.png"/>
          <p:cNvSpPr/>
          <p:nvPr/>
        </p:nvSpPr>
        <p:spPr>
          <a:xfrm flipH="false" flipV="false" rot="0">
            <a:off x="12027713" y="8212207"/>
            <a:ext cx="5420697" cy="1414224"/>
          </a:xfrm>
          <a:custGeom>
            <a:avLst/>
            <a:gdLst/>
            <a:ahLst/>
            <a:cxnLst/>
            <a:rect r="r" b="b" t="t" l="l"/>
            <a:pathLst>
              <a:path h="1414224" w="5420697">
                <a:moveTo>
                  <a:pt x="0" y="0"/>
                </a:moveTo>
                <a:lnTo>
                  <a:pt x="5420696" y="0"/>
                </a:lnTo>
                <a:lnTo>
                  <a:pt x="5420696" y="1414225"/>
                </a:lnTo>
                <a:lnTo>
                  <a:pt x="0" y="141422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433" r="0" b="-434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3271221" y="8456047"/>
            <a:ext cx="3048076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03"/>
              </a:lnSpc>
            </a:pPr>
            <a:r>
              <a:rPr lang="en-US" sz="2326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+13.1%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414514" y="8915133"/>
            <a:ext cx="4761490" cy="438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2"/>
              </a:lnSpc>
            </a:pPr>
            <a:r>
              <a:rPr lang="en-US" sz="1876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Dusk / low light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81616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991" y="1003925"/>
            <a:ext cx="9496168" cy="890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57"/>
              </a:lnSpc>
            </a:pPr>
            <a:r>
              <a:rPr lang="en-US" sz="5254">
                <a:solidFill>
                  <a:srgbClr val="DDDDDD"/>
                </a:solidFill>
                <a:latin typeface="Arimo"/>
                <a:ea typeface="Arimo"/>
                <a:cs typeface="Arimo"/>
                <a:sym typeface="Arimo"/>
              </a:rPr>
              <a:t>Performance Benchmarks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991" y="2505570"/>
            <a:ext cx="5804516" cy="449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8"/>
              </a:lnSpc>
            </a:pPr>
            <a:r>
              <a:rPr lang="en-US" sz="2627">
                <a:solidFill>
                  <a:srgbClr val="DDDDDD"/>
                </a:solidFill>
                <a:latin typeface="Arimo"/>
                <a:ea typeface="Arimo"/>
                <a:cs typeface="Arimo"/>
                <a:sym typeface="Arimo"/>
              </a:rPr>
              <a:t>End-to-End Latency by Device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92991" y="3243262"/>
            <a:ext cx="7437511" cy="5353660"/>
            <a:chOff x="0" y="0"/>
            <a:chExt cx="9916681" cy="7138213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916668" cy="7138162"/>
            </a:xfrm>
            <a:custGeom>
              <a:avLst/>
              <a:gdLst/>
              <a:ahLst/>
              <a:cxnLst/>
              <a:rect r="r" b="b" t="t" l="l"/>
              <a:pathLst>
                <a:path h="7138162" w="9916668">
                  <a:moveTo>
                    <a:pt x="0" y="0"/>
                  </a:moveTo>
                  <a:lnTo>
                    <a:pt x="9916668" y="0"/>
                  </a:lnTo>
                  <a:lnTo>
                    <a:pt x="9916668" y="7138162"/>
                  </a:lnTo>
                  <a:lnTo>
                    <a:pt x="0" y="71381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48" r="0" b="-48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489310" y="2505570"/>
            <a:ext cx="4284574" cy="449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8"/>
              </a:lnSpc>
            </a:pPr>
            <a:r>
              <a:rPr lang="en-US" sz="2627">
                <a:solidFill>
                  <a:srgbClr val="DDDDDD"/>
                </a:solidFill>
                <a:latin typeface="Arimo"/>
                <a:ea typeface="Arimo"/>
                <a:cs typeface="Arimo"/>
                <a:sym typeface="Arimo"/>
              </a:rPr>
              <a:t>Accuracy Metrics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484547" y="3238500"/>
            <a:ext cx="3796055" cy="2085518"/>
            <a:chOff x="0" y="0"/>
            <a:chExt cx="5061407" cy="278069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061331" cy="2780665"/>
            </a:xfrm>
            <a:custGeom>
              <a:avLst/>
              <a:gdLst/>
              <a:ahLst/>
              <a:cxnLst/>
              <a:rect r="r" b="b" t="t" l="l"/>
              <a:pathLst>
                <a:path h="2780665" w="5061331">
                  <a:moveTo>
                    <a:pt x="0" y="151638"/>
                  </a:moveTo>
                  <a:cubicBezTo>
                    <a:pt x="0" y="67945"/>
                    <a:pt x="67945" y="0"/>
                    <a:pt x="151638" y="0"/>
                  </a:cubicBezTo>
                  <a:lnTo>
                    <a:pt x="4909693" y="0"/>
                  </a:lnTo>
                  <a:cubicBezTo>
                    <a:pt x="4993513" y="0"/>
                    <a:pt x="5061331" y="67945"/>
                    <a:pt x="5061331" y="151638"/>
                  </a:cubicBezTo>
                  <a:lnTo>
                    <a:pt x="5061331" y="2629027"/>
                  </a:lnTo>
                  <a:cubicBezTo>
                    <a:pt x="5061331" y="2712847"/>
                    <a:pt x="4993386" y="2780665"/>
                    <a:pt x="4909693" y="2780665"/>
                  </a:cubicBezTo>
                  <a:lnTo>
                    <a:pt x="151638" y="2780665"/>
                  </a:lnTo>
                  <a:cubicBezTo>
                    <a:pt x="67945" y="2780665"/>
                    <a:pt x="0" y="2712847"/>
                    <a:pt x="0" y="2629027"/>
                  </a:cubicBezTo>
                  <a:close/>
                </a:path>
              </a:pathLst>
            </a:custGeom>
            <a:solidFill>
              <a:srgbClr val="404040"/>
            </a:solidFill>
            <a:ln w="9532" cap="sq">
              <a:solidFill>
                <a:srgbClr val="595959"/>
              </a:solidFill>
              <a:prstDash val="solid"/>
              <a:miter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9768278" y="3493665"/>
            <a:ext cx="3228584" cy="449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8"/>
              </a:lnSpc>
            </a:pPr>
            <a:r>
              <a:rPr lang="en-US" sz="2627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96.2%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768278" y="4123144"/>
            <a:ext cx="3228584" cy="9171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8"/>
              </a:lnSpc>
            </a:pPr>
            <a:r>
              <a:rPr lang="en-US" sz="210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True Positive Rate in field conditions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3527100" y="3238500"/>
            <a:ext cx="3796055" cy="2085518"/>
            <a:chOff x="0" y="0"/>
            <a:chExt cx="5061407" cy="278069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061331" cy="2780665"/>
            </a:xfrm>
            <a:custGeom>
              <a:avLst/>
              <a:gdLst/>
              <a:ahLst/>
              <a:cxnLst/>
              <a:rect r="r" b="b" t="t" l="l"/>
              <a:pathLst>
                <a:path h="2780665" w="5061331">
                  <a:moveTo>
                    <a:pt x="0" y="151638"/>
                  </a:moveTo>
                  <a:cubicBezTo>
                    <a:pt x="0" y="67945"/>
                    <a:pt x="67945" y="0"/>
                    <a:pt x="151638" y="0"/>
                  </a:cubicBezTo>
                  <a:lnTo>
                    <a:pt x="4909693" y="0"/>
                  </a:lnTo>
                  <a:cubicBezTo>
                    <a:pt x="4993513" y="0"/>
                    <a:pt x="5061331" y="67945"/>
                    <a:pt x="5061331" y="151638"/>
                  </a:cubicBezTo>
                  <a:lnTo>
                    <a:pt x="5061331" y="2629027"/>
                  </a:lnTo>
                  <a:cubicBezTo>
                    <a:pt x="5061331" y="2712847"/>
                    <a:pt x="4993386" y="2780665"/>
                    <a:pt x="4909693" y="2780665"/>
                  </a:cubicBezTo>
                  <a:lnTo>
                    <a:pt x="151638" y="2780665"/>
                  </a:lnTo>
                  <a:cubicBezTo>
                    <a:pt x="67945" y="2780665"/>
                    <a:pt x="0" y="2712847"/>
                    <a:pt x="0" y="2629027"/>
                  </a:cubicBezTo>
                  <a:close/>
                </a:path>
              </a:pathLst>
            </a:custGeom>
            <a:solidFill>
              <a:srgbClr val="404040"/>
            </a:solidFill>
            <a:ln w="9532" cap="sq">
              <a:solidFill>
                <a:srgbClr val="595959"/>
              </a:solidFill>
              <a:prstDash val="solid"/>
              <a:miter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13810831" y="3493665"/>
            <a:ext cx="3228584" cy="449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8"/>
              </a:lnSpc>
            </a:pPr>
            <a:r>
              <a:rPr lang="en-US" sz="2627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1.8%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810831" y="4123144"/>
            <a:ext cx="3228584" cy="496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8"/>
              </a:lnSpc>
            </a:pPr>
            <a:r>
              <a:rPr lang="en-US" sz="210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False Positive Rate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484547" y="5570525"/>
            <a:ext cx="7838599" cy="1665046"/>
            <a:chOff x="0" y="0"/>
            <a:chExt cx="10451465" cy="222006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451592" cy="2220214"/>
            </a:xfrm>
            <a:custGeom>
              <a:avLst/>
              <a:gdLst/>
              <a:ahLst/>
              <a:cxnLst/>
              <a:rect r="r" b="b" t="t" l="l"/>
              <a:pathLst>
                <a:path h="2220214" w="10451592">
                  <a:moveTo>
                    <a:pt x="0" y="151892"/>
                  </a:moveTo>
                  <a:cubicBezTo>
                    <a:pt x="0" y="67945"/>
                    <a:pt x="67945" y="0"/>
                    <a:pt x="151892" y="0"/>
                  </a:cubicBezTo>
                  <a:lnTo>
                    <a:pt x="10299700" y="0"/>
                  </a:lnTo>
                  <a:cubicBezTo>
                    <a:pt x="10383520" y="0"/>
                    <a:pt x="10451592" y="67945"/>
                    <a:pt x="10451592" y="151892"/>
                  </a:cubicBezTo>
                  <a:lnTo>
                    <a:pt x="10451592" y="2068322"/>
                  </a:lnTo>
                  <a:cubicBezTo>
                    <a:pt x="10451592" y="2152142"/>
                    <a:pt x="10383647" y="2220214"/>
                    <a:pt x="10299700" y="2220214"/>
                  </a:cubicBezTo>
                  <a:lnTo>
                    <a:pt x="151892" y="2220214"/>
                  </a:lnTo>
                  <a:cubicBezTo>
                    <a:pt x="67945" y="2220087"/>
                    <a:pt x="0" y="2152142"/>
                    <a:pt x="0" y="2068195"/>
                  </a:cubicBezTo>
                  <a:close/>
                </a:path>
              </a:pathLst>
            </a:custGeom>
            <a:solidFill>
              <a:srgbClr val="404040"/>
            </a:solidFill>
            <a:ln w="9532" cap="sq">
              <a:solidFill>
                <a:srgbClr val="595959"/>
              </a:solidFill>
              <a:prstDash val="solid"/>
              <a:miter/>
            </a:ln>
          </p:spPr>
        </p:sp>
      </p:grpSp>
      <p:sp>
        <p:nvSpPr>
          <p:cNvPr name="TextBox 21" id="21"/>
          <p:cNvSpPr txBox="true"/>
          <p:nvPr/>
        </p:nvSpPr>
        <p:spPr>
          <a:xfrm rot="0">
            <a:off x="9768278" y="5825690"/>
            <a:ext cx="3369488" cy="449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8"/>
              </a:lnSpc>
            </a:pPr>
            <a:r>
              <a:rPr lang="en-US" sz="2627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100%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768278" y="6455169"/>
            <a:ext cx="7271137" cy="496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8"/>
              </a:lnSpc>
            </a:pPr>
            <a:r>
              <a:rPr lang="en-US" sz="210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Spoof Detection (photo &amp; video)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9489310" y="7518864"/>
            <a:ext cx="7829074" cy="1436418"/>
            <a:chOff x="0" y="0"/>
            <a:chExt cx="10438765" cy="191522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438765" cy="1915287"/>
            </a:xfrm>
            <a:custGeom>
              <a:avLst/>
              <a:gdLst/>
              <a:ahLst/>
              <a:cxnLst/>
              <a:rect r="r" b="b" t="t" l="l"/>
              <a:pathLst>
                <a:path h="1915287" w="10438765">
                  <a:moveTo>
                    <a:pt x="0" y="151003"/>
                  </a:moveTo>
                  <a:cubicBezTo>
                    <a:pt x="0" y="67564"/>
                    <a:pt x="67564" y="0"/>
                    <a:pt x="151003" y="0"/>
                  </a:cubicBezTo>
                  <a:lnTo>
                    <a:pt x="10287762" y="0"/>
                  </a:lnTo>
                  <a:cubicBezTo>
                    <a:pt x="10371074" y="0"/>
                    <a:pt x="10438765" y="67564"/>
                    <a:pt x="10438765" y="151003"/>
                  </a:cubicBezTo>
                  <a:lnTo>
                    <a:pt x="10438765" y="1764284"/>
                  </a:lnTo>
                  <a:cubicBezTo>
                    <a:pt x="10438765" y="1847596"/>
                    <a:pt x="10371201" y="1915287"/>
                    <a:pt x="10287762" y="1915287"/>
                  </a:cubicBezTo>
                  <a:lnTo>
                    <a:pt x="151003" y="1915287"/>
                  </a:lnTo>
                  <a:cubicBezTo>
                    <a:pt x="67564" y="1915287"/>
                    <a:pt x="0" y="1847596"/>
                    <a:pt x="0" y="1764284"/>
                  </a:cubicBezTo>
                  <a:close/>
                </a:path>
              </a:pathLst>
            </a:custGeom>
            <a:solidFill>
              <a:srgbClr val="183A13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9758744" y="7924886"/>
            <a:ext cx="336899" cy="269443"/>
            <a:chOff x="0" y="0"/>
            <a:chExt cx="449199" cy="359258"/>
          </a:xfrm>
        </p:grpSpPr>
        <p:sp>
          <p:nvSpPr>
            <p:cNvPr name="Freeform 26" id="26" descr="preencoded.png"/>
            <p:cNvSpPr/>
            <p:nvPr/>
          </p:nvSpPr>
          <p:spPr>
            <a:xfrm flipH="false" flipV="false" rot="0">
              <a:off x="0" y="0"/>
              <a:ext cx="449199" cy="359283"/>
            </a:xfrm>
            <a:custGeom>
              <a:avLst/>
              <a:gdLst/>
              <a:ahLst/>
              <a:cxnLst/>
              <a:rect r="r" b="b" t="t" l="l"/>
              <a:pathLst>
                <a:path h="359283" w="449199">
                  <a:moveTo>
                    <a:pt x="0" y="0"/>
                  </a:moveTo>
                  <a:lnTo>
                    <a:pt x="449199" y="0"/>
                  </a:lnTo>
                  <a:lnTo>
                    <a:pt x="449199" y="359283"/>
                  </a:lnTo>
                  <a:lnTo>
                    <a:pt x="0" y="3592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4" r="0" b="-7"/>
              </a:stretch>
            </a:blip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10365086" y="7740406"/>
            <a:ext cx="6683864" cy="9171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8"/>
              </a:lnSpc>
            </a:pPr>
            <a:r>
              <a:rPr lang="en-US" sz="210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All benchmarks run on government-issued mid-range hardware (₹10,000 class).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81616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991" y="1220495"/>
            <a:ext cx="9690087" cy="9438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1"/>
              </a:lnSpc>
            </a:pPr>
            <a:r>
              <a:rPr lang="en-US" sz="5554">
                <a:solidFill>
                  <a:srgbClr val="DDDDDD"/>
                </a:solidFill>
                <a:latin typeface="Arimo"/>
                <a:ea typeface="Arimo"/>
                <a:cs typeface="Arimo"/>
                <a:sym typeface="Arimo"/>
              </a:rPr>
              <a:t>How FaceAuth Compares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88219" y="2727027"/>
            <a:ext cx="16325393" cy="4096274"/>
            <a:chOff x="0" y="0"/>
            <a:chExt cx="21767190" cy="546169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767166" cy="5461635"/>
            </a:xfrm>
            <a:custGeom>
              <a:avLst/>
              <a:gdLst/>
              <a:ahLst/>
              <a:cxnLst/>
              <a:rect r="r" b="b" t="t" l="l"/>
              <a:pathLst>
                <a:path h="5461635" w="21767166">
                  <a:moveTo>
                    <a:pt x="0" y="159258"/>
                  </a:moveTo>
                  <a:cubicBezTo>
                    <a:pt x="0" y="71247"/>
                    <a:pt x="71247" y="0"/>
                    <a:pt x="159258" y="0"/>
                  </a:cubicBezTo>
                  <a:lnTo>
                    <a:pt x="21607907" y="0"/>
                  </a:lnTo>
                  <a:cubicBezTo>
                    <a:pt x="21695919" y="0"/>
                    <a:pt x="21767166" y="71247"/>
                    <a:pt x="21767166" y="159258"/>
                  </a:cubicBezTo>
                  <a:lnTo>
                    <a:pt x="21767166" y="5302377"/>
                  </a:lnTo>
                  <a:cubicBezTo>
                    <a:pt x="21767166" y="5390388"/>
                    <a:pt x="21695919" y="5461635"/>
                    <a:pt x="21607907" y="5461635"/>
                  </a:cubicBezTo>
                  <a:lnTo>
                    <a:pt x="159258" y="5461635"/>
                  </a:lnTo>
                  <a:cubicBezTo>
                    <a:pt x="71247" y="5461635"/>
                    <a:pt x="0" y="5390388"/>
                    <a:pt x="0" y="5302377"/>
                  </a:cubicBez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656" r="0" b="-27657"/>
              </a:stretch>
            </a:blipFill>
            <a:ln w="9532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002525" y="2741324"/>
            <a:ext cx="16296799" cy="813540"/>
            <a:chOff x="0" y="0"/>
            <a:chExt cx="21729065" cy="10847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729064" cy="1084707"/>
            </a:xfrm>
            <a:custGeom>
              <a:avLst/>
              <a:gdLst/>
              <a:ahLst/>
              <a:cxnLst/>
              <a:rect r="r" b="b" t="t" l="l"/>
              <a:pathLst>
                <a:path h="1084707" w="21729064">
                  <a:moveTo>
                    <a:pt x="0" y="0"/>
                  </a:moveTo>
                  <a:lnTo>
                    <a:pt x="21729064" y="0"/>
                  </a:lnTo>
                  <a:lnTo>
                    <a:pt x="21729064" y="1084707"/>
                  </a:lnTo>
                  <a:lnTo>
                    <a:pt x="0" y="1084707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286694" y="2825848"/>
            <a:ext cx="3928015" cy="549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 b="true">
                <a:solidFill>
                  <a:srgbClr val="8F8F8F"/>
                </a:solidFill>
                <a:latin typeface="Arimo Bold"/>
                <a:ea typeface="Arimo Bold"/>
                <a:cs typeface="Arimo Bold"/>
                <a:sym typeface="Arimo Bold"/>
              </a:rPr>
              <a:t>Solution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876619" y="2825848"/>
            <a:ext cx="2456631" cy="549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 b="true">
                <a:solidFill>
                  <a:srgbClr val="8F8F8F"/>
                </a:solidFill>
                <a:latin typeface="Arimo Bold"/>
                <a:ea typeface="Arimo Bold"/>
                <a:cs typeface="Arimo Bold"/>
                <a:sym typeface="Arimo Bold"/>
              </a:rPr>
              <a:t>Size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995150" y="2825848"/>
            <a:ext cx="2456631" cy="549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 b="true">
                <a:solidFill>
                  <a:srgbClr val="8F8F8F"/>
                </a:solidFill>
                <a:latin typeface="Arimo Bold"/>
                <a:ea typeface="Arimo Bold"/>
                <a:cs typeface="Arimo Bold"/>
                <a:sym typeface="Arimo Bold"/>
              </a:rPr>
              <a:t>Speed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113682" y="2825848"/>
            <a:ext cx="2456631" cy="549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 b="true">
                <a:solidFill>
                  <a:srgbClr val="8F8F8F"/>
                </a:solidFill>
                <a:latin typeface="Arimo Bold"/>
                <a:ea typeface="Arimo Bold"/>
                <a:cs typeface="Arimo Bold"/>
                <a:sym typeface="Arimo Bold"/>
              </a:rPr>
              <a:t>Accuracy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232223" y="2825848"/>
            <a:ext cx="2456631" cy="549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 b="true">
                <a:solidFill>
                  <a:srgbClr val="8F8F8F"/>
                </a:solidFill>
                <a:latin typeface="Arimo Bold"/>
                <a:ea typeface="Arimo Bold"/>
                <a:cs typeface="Arimo Bold"/>
                <a:sym typeface="Arimo Bold"/>
              </a:rPr>
              <a:t>Offline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350754" y="2825848"/>
            <a:ext cx="2456631" cy="549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 b="true">
                <a:solidFill>
                  <a:srgbClr val="8F8F8F"/>
                </a:solidFill>
                <a:latin typeface="Arimo Bold"/>
                <a:ea typeface="Arimo Bold"/>
                <a:cs typeface="Arimo Bold"/>
                <a:sym typeface="Arimo Bold"/>
              </a:rPr>
              <a:t>Liveness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5469286" y="2825848"/>
            <a:ext cx="2461393" cy="549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 b="true">
                <a:solidFill>
                  <a:srgbClr val="8F8F8F"/>
                </a:solidFill>
                <a:latin typeface="Arimo Bold"/>
                <a:ea typeface="Arimo Bold"/>
                <a:cs typeface="Arimo Bold"/>
                <a:sym typeface="Arimo Bold"/>
              </a:rPr>
              <a:t>Cost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002525" y="3554854"/>
            <a:ext cx="16296799" cy="813540"/>
            <a:chOff x="0" y="0"/>
            <a:chExt cx="21729065" cy="10847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729064" cy="1084707"/>
            </a:xfrm>
            <a:custGeom>
              <a:avLst/>
              <a:gdLst/>
              <a:ahLst/>
              <a:cxnLst/>
              <a:rect r="r" b="b" t="t" l="l"/>
              <a:pathLst>
                <a:path h="1084707" w="21729064">
                  <a:moveTo>
                    <a:pt x="0" y="0"/>
                  </a:moveTo>
                  <a:lnTo>
                    <a:pt x="21729064" y="0"/>
                  </a:lnTo>
                  <a:lnTo>
                    <a:pt x="21729064" y="1084707"/>
                  </a:lnTo>
                  <a:lnTo>
                    <a:pt x="0" y="108470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286694" y="3639388"/>
            <a:ext cx="3928015" cy="549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 b="true">
                <a:solidFill>
                  <a:srgbClr val="8F8F8F"/>
                </a:solidFill>
                <a:latin typeface="Arimo Bold"/>
                <a:ea typeface="Arimo Bold"/>
                <a:cs typeface="Arimo Bold"/>
                <a:sym typeface="Arimo Bold"/>
              </a:rPr>
              <a:t>FaceAuth (Ours)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876619" y="3639388"/>
            <a:ext cx="2456631" cy="549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5.3 MB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995150" y="3639388"/>
            <a:ext cx="2456631" cy="549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57 ms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113682" y="3639388"/>
            <a:ext cx="2456631" cy="549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96.2%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232223" y="3639388"/>
            <a:ext cx="2456631" cy="549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16A34A"/>
                </a:solidFill>
                <a:latin typeface="Arimo"/>
                <a:ea typeface="Arimo"/>
                <a:cs typeface="Arimo"/>
                <a:sym typeface="Arimo"/>
              </a:rPr>
              <a:t>✓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350754" y="3639388"/>
            <a:ext cx="2456631" cy="549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16A34A"/>
                </a:solidFill>
                <a:latin typeface="Arimo"/>
                <a:ea typeface="Arimo"/>
                <a:cs typeface="Arimo"/>
                <a:sym typeface="Arimo"/>
              </a:rPr>
              <a:t>✓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5469286" y="3639388"/>
            <a:ext cx="2461393" cy="549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₹0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002525" y="4368394"/>
            <a:ext cx="16296799" cy="813540"/>
            <a:chOff x="0" y="0"/>
            <a:chExt cx="21729065" cy="108472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1729064" cy="1084707"/>
            </a:xfrm>
            <a:custGeom>
              <a:avLst/>
              <a:gdLst/>
              <a:ahLst/>
              <a:cxnLst/>
              <a:rect r="r" b="b" t="t" l="l"/>
              <a:pathLst>
                <a:path h="1084707" w="21729064">
                  <a:moveTo>
                    <a:pt x="0" y="0"/>
                  </a:moveTo>
                  <a:lnTo>
                    <a:pt x="21729064" y="0"/>
                  </a:lnTo>
                  <a:lnTo>
                    <a:pt x="21729064" y="1084707"/>
                  </a:lnTo>
                  <a:lnTo>
                    <a:pt x="0" y="1084707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1286694" y="4452918"/>
            <a:ext cx="3928015" cy="549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FaceNet + MTCNN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4876619" y="4452918"/>
            <a:ext cx="2456631" cy="549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95 MB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6995150" y="4452918"/>
            <a:ext cx="2456631" cy="549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200 ms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113682" y="4452918"/>
            <a:ext cx="2456631" cy="549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95.8%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1232223" y="4452918"/>
            <a:ext cx="2456631" cy="549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16A34A"/>
                </a:solidFill>
                <a:latin typeface="Arimo"/>
                <a:ea typeface="Arimo"/>
                <a:cs typeface="Arimo"/>
                <a:sym typeface="Arimo"/>
              </a:rPr>
              <a:t>✓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3350754" y="4452918"/>
            <a:ext cx="2456631" cy="549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DC2626"/>
                </a:solidFill>
                <a:latin typeface="Arimo"/>
                <a:ea typeface="Arimo"/>
                <a:cs typeface="Arimo"/>
                <a:sym typeface="Arimo"/>
              </a:rPr>
              <a:t>✕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5469286" y="4452918"/>
            <a:ext cx="2461393" cy="549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₹0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1002525" y="5181924"/>
            <a:ext cx="16296799" cy="813540"/>
            <a:chOff x="0" y="0"/>
            <a:chExt cx="21729065" cy="108472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1729064" cy="1084707"/>
            </a:xfrm>
            <a:custGeom>
              <a:avLst/>
              <a:gdLst/>
              <a:ahLst/>
              <a:cxnLst/>
              <a:rect r="r" b="b" t="t" l="l"/>
              <a:pathLst>
                <a:path h="1084707" w="21729064">
                  <a:moveTo>
                    <a:pt x="0" y="0"/>
                  </a:moveTo>
                  <a:lnTo>
                    <a:pt x="21729064" y="0"/>
                  </a:lnTo>
                  <a:lnTo>
                    <a:pt x="21729064" y="1084707"/>
                  </a:lnTo>
                  <a:lnTo>
                    <a:pt x="0" y="108470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TextBox 38" id="38"/>
          <p:cNvSpPr txBox="true"/>
          <p:nvPr/>
        </p:nvSpPr>
        <p:spPr>
          <a:xfrm rot="0">
            <a:off x="1286694" y="5266458"/>
            <a:ext cx="3928015" cy="549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ArcFace (ResNet-100)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4876619" y="5266458"/>
            <a:ext cx="2456631" cy="549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249 MB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6995150" y="5266458"/>
            <a:ext cx="2456631" cy="549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500 ms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9113682" y="5266458"/>
            <a:ext cx="2456631" cy="549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97.1%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1232223" y="5266458"/>
            <a:ext cx="2456631" cy="549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16A34A"/>
                </a:solidFill>
                <a:latin typeface="Arimo"/>
                <a:ea typeface="Arimo"/>
                <a:cs typeface="Arimo"/>
                <a:sym typeface="Arimo"/>
              </a:rPr>
              <a:t>✓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3350754" y="5266458"/>
            <a:ext cx="2456631" cy="549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DC2626"/>
                </a:solidFill>
                <a:latin typeface="Arimo"/>
                <a:ea typeface="Arimo"/>
                <a:cs typeface="Arimo"/>
                <a:sym typeface="Arimo"/>
              </a:rPr>
              <a:t>✕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5469286" y="5266458"/>
            <a:ext cx="2461393" cy="549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₹0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1002525" y="5995464"/>
            <a:ext cx="16296799" cy="813540"/>
            <a:chOff x="0" y="0"/>
            <a:chExt cx="21729065" cy="108472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1729064" cy="1084707"/>
            </a:xfrm>
            <a:custGeom>
              <a:avLst/>
              <a:gdLst/>
              <a:ahLst/>
              <a:cxnLst/>
              <a:rect r="r" b="b" t="t" l="l"/>
              <a:pathLst>
                <a:path h="1084707" w="21729064">
                  <a:moveTo>
                    <a:pt x="0" y="0"/>
                  </a:moveTo>
                  <a:lnTo>
                    <a:pt x="21729064" y="0"/>
                  </a:lnTo>
                  <a:lnTo>
                    <a:pt x="21729064" y="1084707"/>
                  </a:lnTo>
                  <a:lnTo>
                    <a:pt x="0" y="1084707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sp>
        <p:nvSpPr>
          <p:cNvPr name="TextBox 47" id="47"/>
          <p:cNvSpPr txBox="true"/>
          <p:nvPr/>
        </p:nvSpPr>
        <p:spPr>
          <a:xfrm rot="0">
            <a:off x="1286694" y="6079988"/>
            <a:ext cx="3928015" cy="549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Cloud API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4876619" y="6079988"/>
            <a:ext cx="2456631" cy="549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0 MB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6995150" y="6079988"/>
            <a:ext cx="2456631" cy="549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800 ms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9113682" y="6079988"/>
            <a:ext cx="2456631" cy="549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99.0%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1232223" y="6079988"/>
            <a:ext cx="2456631" cy="549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DC2626"/>
                </a:solidFill>
                <a:latin typeface="Arimo"/>
                <a:ea typeface="Arimo"/>
                <a:cs typeface="Arimo"/>
                <a:sym typeface="Arimo"/>
              </a:rPr>
              <a:t>✕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3350754" y="6079988"/>
            <a:ext cx="2456631" cy="549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16A34A"/>
                </a:solidFill>
                <a:latin typeface="Arimo"/>
                <a:ea typeface="Arimo"/>
                <a:cs typeface="Arimo"/>
                <a:sym typeface="Arimo"/>
              </a:rPr>
              <a:t>✓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5469286" y="6079988"/>
            <a:ext cx="2461393" cy="549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₹₹₹</a:t>
            </a:r>
          </a:p>
        </p:txBody>
      </p:sp>
      <p:grpSp>
        <p:nvGrpSpPr>
          <p:cNvPr name="Group 54" id="54"/>
          <p:cNvGrpSpPr/>
          <p:nvPr/>
        </p:nvGrpSpPr>
        <p:grpSpPr>
          <a:xfrm rot="0">
            <a:off x="992991" y="7137721"/>
            <a:ext cx="16315868" cy="1560347"/>
            <a:chOff x="0" y="0"/>
            <a:chExt cx="21754490" cy="2080463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21754464" cy="2080387"/>
            </a:xfrm>
            <a:custGeom>
              <a:avLst/>
              <a:gdLst/>
              <a:ahLst/>
              <a:cxnLst/>
              <a:rect r="r" b="b" t="t" l="l"/>
              <a:pathLst>
                <a:path h="2080387" w="21754464">
                  <a:moveTo>
                    <a:pt x="0" y="158877"/>
                  </a:moveTo>
                  <a:cubicBezTo>
                    <a:pt x="0" y="71120"/>
                    <a:pt x="71120" y="0"/>
                    <a:pt x="158877" y="0"/>
                  </a:cubicBezTo>
                  <a:lnTo>
                    <a:pt x="21595587" y="0"/>
                  </a:lnTo>
                  <a:cubicBezTo>
                    <a:pt x="21683345" y="0"/>
                    <a:pt x="21754464" y="71120"/>
                    <a:pt x="21754464" y="158877"/>
                  </a:cubicBezTo>
                  <a:lnTo>
                    <a:pt x="21754464" y="1921510"/>
                  </a:lnTo>
                  <a:cubicBezTo>
                    <a:pt x="21754464" y="2009267"/>
                    <a:pt x="21683345" y="2080387"/>
                    <a:pt x="21595587" y="2080387"/>
                  </a:cubicBezTo>
                  <a:lnTo>
                    <a:pt x="158877" y="2080387"/>
                  </a:lnTo>
                  <a:cubicBezTo>
                    <a:pt x="71120" y="2080514"/>
                    <a:pt x="0" y="2009267"/>
                    <a:pt x="0" y="1921510"/>
                  </a:cubicBezTo>
                  <a:close/>
                </a:path>
              </a:pathLst>
            </a:custGeom>
            <a:solidFill>
              <a:srgbClr val="022349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276721" y="7539571"/>
            <a:ext cx="354625" cy="283740"/>
            <a:chOff x="0" y="0"/>
            <a:chExt cx="472834" cy="378320"/>
          </a:xfrm>
        </p:grpSpPr>
        <p:sp>
          <p:nvSpPr>
            <p:cNvPr name="Freeform 57" id="57" descr="preencoded.png"/>
            <p:cNvSpPr/>
            <p:nvPr/>
          </p:nvSpPr>
          <p:spPr>
            <a:xfrm flipH="false" flipV="false" rot="0">
              <a:off x="0" y="0"/>
              <a:ext cx="472821" cy="378333"/>
            </a:xfrm>
            <a:custGeom>
              <a:avLst/>
              <a:gdLst/>
              <a:ahLst/>
              <a:cxnLst/>
              <a:rect r="r" b="b" t="t" l="l"/>
              <a:pathLst>
                <a:path h="378333" w="472821">
                  <a:moveTo>
                    <a:pt x="0" y="0"/>
                  </a:moveTo>
                  <a:lnTo>
                    <a:pt x="472821" y="0"/>
                  </a:lnTo>
                  <a:lnTo>
                    <a:pt x="472821" y="378333"/>
                  </a:lnTo>
                  <a:lnTo>
                    <a:pt x="0" y="3783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668" r="-2" b="-668"/>
              </a:stretch>
            </a:blipFill>
          </p:spPr>
        </p:sp>
      </p:grpSp>
      <p:sp>
        <p:nvSpPr>
          <p:cNvPr name="TextBox 58" id="58"/>
          <p:cNvSpPr txBox="true"/>
          <p:nvPr/>
        </p:nvSpPr>
        <p:spPr>
          <a:xfrm rot="0">
            <a:off x="1915077" y="7368654"/>
            <a:ext cx="15110041" cy="1003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FaceAuth is the only solution combining sub-100ms speed, full offline capability, built-in liveness, and a 5.3 MB footprint — purpose-built for NHAI field conditions.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81616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991" y="748027"/>
            <a:ext cx="6553543" cy="658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71"/>
              </a:lnSpc>
            </a:pPr>
            <a:r>
              <a:rPr lang="en-US" sz="3903">
                <a:solidFill>
                  <a:srgbClr val="DDDDDD"/>
                </a:solidFill>
                <a:latin typeface="Arimo"/>
                <a:ea typeface="Arimo"/>
                <a:cs typeface="Arimo"/>
                <a:sym typeface="Arimo"/>
              </a:rPr>
              <a:t>Integration &amp; Roadmap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991" y="1725692"/>
            <a:ext cx="4745403" cy="338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5"/>
              </a:lnSpc>
            </a:pPr>
            <a:r>
              <a:rPr lang="en-US" sz="1951">
                <a:solidFill>
                  <a:srgbClr val="DDDDDD"/>
                </a:solidFill>
                <a:latin typeface="Arimo"/>
                <a:ea typeface="Arimo"/>
                <a:cs typeface="Arimo"/>
                <a:sym typeface="Arimo"/>
              </a:rPr>
              <a:t>Drop Into Datalake 3.0 — 4 Steps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2991" y="2165385"/>
            <a:ext cx="8830847" cy="3082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5"/>
              </a:lnSpc>
            </a:pPr>
            <a:r>
              <a:rPr lang="en-US" sz="1501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No API keys, no cloud config, no backend. Models ship inside the APK.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402632" y="1725692"/>
            <a:ext cx="3397787" cy="338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5"/>
              </a:lnSpc>
            </a:pPr>
            <a:r>
              <a:rPr lang="en-US" sz="1951">
                <a:solidFill>
                  <a:srgbClr val="DDDDDD"/>
                </a:solidFill>
                <a:latin typeface="Arimo"/>
                <a:ea typeface="Arimo"/>
                <a:cs typeface="Arimo"/>
                <a:sym typeface="Arimo"/>
              </a:rPr>
              <a:t>Roadmap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3346135" y="2220916"/>
            <a:ext cx="28594" cy="3697395"/>
            <a:chOff x="0" y="0"/>
            <a:chExt cx="38125" cy="492986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8100" cy="4929886"/>
            </a:xfrm>
            <a:custGeom>
              <a:avLst/>
              <a:gdLst/>
              <a:ahLst/>
              <a:cxnLst/>
              <a:rect r="r" b="b" t="t" l="l"/>
              <a:pathLst>
                <a:path h="4929886" w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lnTo>
                    <a:pt x="38100" y="4910836"/>
                  </a:lnTo>
                  <a:cubicBezTo>
                    <a:pt x="38100" y="4921377"/>
                    <a:pt x="29591" y="4929886"/>
                    <a:pt x="19050" y="4929886"/>
                  </a:cubicBezTo>
                  <a:cubicBezTo>
                    <a:pt x="8509" y="4929886"/>
                    <a:pt x="0" y="4921377"/>
                    <a:pt x="0" y="4910836"/>
                  </a:cubicBezTo>
                  <a:close/>
                </a:path>
              </a:pathLst>
            </a:custGeom>
            <a:solidFill>
              <a:srgbClr val="595959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2569857" y="2430028"/>
            <a:ext cx="595760" cy="28594"/>
            <a:chOff x="0" y="0"/>
            <a:chExt cx="794347" cy="3812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94385" cy="38100"/>
            </a:xfrm>
            <a:custGeom>
              <a:avLst/>
              <a:gdLst/>
              <a:ahLst/>
              <a:cxnLst/>
              <a:rect r="r" b="b" t="t" l="l"/>
              <a:pathLst>
                <a:path h="38100" w="794385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775335" y="0"/>
                  </a:lnTo>
                  <a:cubicBezTo>
                    <a:pt x="785876" y="0"/>
                    <a:pt x="794385" y="8509"/>
                    <a:pt x="794385" y="19050"/>
                  </a:cubicBezTo>
                  <a:cubicBezTo>
                    <a:pt x="794385" y="29591"/>
                    <a:pt x="785876" y="38100"/>
                    <a:pt x="775335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595959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3132251" y="2216144"/>
            <a:ext cx="456352" cy="456362"/>
            <a:chOff x="0" y="0"/>
            <a:chExt cx="608470" cy="60848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08584" cy="608584"/>
            </a:xfrm>
            <a:custGeom>
              <a:avLst/>
              <a:gdLst/>
              <a:ahLst/>
              <a:cxnLst/>
              <a:rect r="r" b="b" t="t" l="l"/>
              <a:pathLst>
                <a:path h="608584" w="608584">
                  <a:moveTo>
                    <a:pt x="0" y="113665"/>
                  </a:moveTo>
                  <a:cubicBezTo>
                    <a:pt x="0" y="50800"/>
                    <a:pt x="50800" y="0"/>
                    <a:pt x="113665" y="0"/>
                  </a:cubicBezTo>
                  <a:lnTo>
                    <a:pt x="494919" y="0"/>
                  </a:lnTo>
                  <a:cubicBezTo>
                    <a:pt x="557657" y="0"/>
                    <a:pt x="608584" y="50800"/>
                    <a:pt x="608584" y="113665"/>
                  </a:cubicBezTo>
                  <a:lnTo>
                    <a:pt x="608584" y="494919"/>
                  </a:lnTo>
                  <a:cubicBezTo>
                    <a:pt x="608584" y="557657"/>
                    <a:pt x="557784" y="608584"/>
                    <a:pt x="494919" y="608584"/>
                  </a:cubicBezTo>
                  <a:lnTo>
                    <a:pt x="113665" y="608584"/>
                  </a:lnTo>
                  <a:cubicBezTo>
                    <a:pt x="50800" y="608457"/>
                    <a:pt x="0" y="557657"/>
                    <a:pt x="0" y="494919"/>
                  </a:cubicBezTo>
                  <a:close/>
                </a:path>
              </a:pathLst>
            </a:custGeom>
            <a:solidFill>
              <a:srgbClr val="404040"/>
            </a:solidFill>
            <a:ln w="9532" cap="sq">
              <a:solidFill>
                <a:srgbClr val="595959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13211489" y="2258149"/>
            <a:ext cx="297885" cy="372361"/>
            <a:chOff x="0" y="0"/>
            <a:chExt cx="397180" cy="49648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97176" cy="496482"/>
            </a:xfrm>
            <a:custGeom>
              <a:avLst/>
              <a:gdLst/>
              <a:ahLst/>
              <a:cxnLst/>
              <a:rect r="r" b="b" t="t" l="l"/>
              <a:pathLst>
                <a:path h="496482" w="397176">
                  <a:moveTo>
                    <a:pt x="0" y="0"/>
                  </a:moveTo>
                  <a:lnTo>
                    <a:pt x="397176" y="0"/>
                  </a:lnTo>
                  <a:lnTo>
                    <a:pt x="397176" y="496482"/>
                  </a:lnTo>
                  <a:lnTo>
                    <a:pt x="0" y="49648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10382" t="0" r="-110383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"/>
              <a:ext cx="397180" cy="5060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92"/>
                </a:lnSpc>
              </a:pPr>
              <a:r>
                <a:rPr lang="en-US" sz="2326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1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9884750" y="2260549"/>
            <a:ext cx="2482691" cy="338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35"/>
              </a:lnSpc>
            </a:pPr>
            <a:r>
              <a:rPr lang="en-US" sz="1951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v1.1 — Short Term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402632" y="2700242"/>
            <a:ext cx="2964818" cy="578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035"/>
              </a:lnSpc>
            </a:pPr>
            <a:r>
              <a:rPr lang="en-US" sz="1501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Blink detection liveness; 90-day re-enrollment reminders.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3555247" y="3502581"/>
            <a:ext cx="595760" cy="28594"/>
            <a:chOff x="0" y="0"/>
            <a:chExt cx="794347" cy="3812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94385" cy="38100"/>
            </a:xfrm>
            <a:custGeom>
              <a:avLst/>
              <a:gdLst/>
              <a:ahLst/>
              <a:cxnLst/>
              <a:rect r="r" b="b" t="t" l="l"/>
              <a:pathLst>
                <a:path h="38100" w="794385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775335" y="0"/>
                  </a:lnTo>
                  <a:cubicBezTo>
                    <a:pt x="785876" y="0"/>
                    <a:pt x="794385" y="8509"/>
                    <a:pt x="794385" y="19050"/>
                  </a:cubicBezTo>
                  <a:cubicBezTo>
                    <a:pt x="794385" y="29591"/>
                    <a:pt x="785876" y="38100"/>
                    <a:pt x="775335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595959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3132251" y="3288697"/>
            <a:ext cx="456352" cy="456362"/>
            <a:chOff x="0" y="0"/>
            <a:chExt cx="608470" cy="60848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08584" cy="608584"/>
            </a:xfrm>
            <a:custGeom>
              <a:avLst/>
              <a:gdLst/>
              <a:ahLst/>
              <a:cxnLst/>
              <a:rect r="r" b="b" t="t" l="l"/>
              <a:pathLst>
                <a:path h="608584" w="608584">
                  <a:moveTo>
                    <a:pt x="0" y="113665"/>
                  </a:moveTo>
                  <a:cubicBezTo>
                    <a:pt x="0" y="50800"/>
                    <a:pt x="50800" y="0"/>
                    <a:pt x="113665" y="0"/>
                  </a:cubicBezTo>
                  <a:lnTo>
                    <a:pt x="494919" y="0"/>
                  </a:lnTo>
                  <a:cubicBezTo>
                    <a:pt x="557657" y="0"/>
                    <a:pt x="608584" y="50800"/>
                    <a:pt x="608584" y="113665"/>
                  </a:cubicBezTo>
                  <a:lnTo>
                    <a:pt x="608584" y="494919"/>
                  </a:lnTo>
                  <a:cubicBezTo>
                    <a:pt x="608584" y="557657"/>
                    <a:pt x="557784" y="608584"/>
                    <a:pt x="494919" y="608584"/>
                  </a:cubicBezTo>
                  <a:lnTo>
                    <a:pt x="113665" y="608584"/>
                  </a:lnTo>
                  <a:cubicBezTo>
                    <a:pt x="50800" y="608457"/>
                    <a:pt x="0" y="557657"/>
                    <a:pt x="0" y="494919"/>
                  </a:cubicBezTo>
                  <a:close/>
                </a:path>
              </a:pathLst>
            </a:custGeom>
            <a:solidFill>
              <a:srgbClr val="404040"/>
            </a:solidFill>
            <a:ln w="9532" cap="sq">
              <a:solidFill>
                <a:srgbClr val="595959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13211489" y="3330692"/>
            <a:ext cx="297885" cy="372361"/>
            <a:chOff x="0" y="0"/>
            <a:chExt cx="397180" cy="49648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97176" cy="496482"/>
            </a:xfrm>
            <a:custGeom>
              <a:avLst/>
              <a:gdLst/>
              <a:ahLst/>
              <a:cxnLst/>
              <a:rect r="r" b="b" t="t" l="l"/>
              <a:pathLst>
                <a:path h="496482" w="397176">
                  <a:moveTo>
                    <a:pt x="0" y="0"/>
                  </a:moveTo>
                  <a:lnTo>
                    <a:pt x="397176" y="0"/>
                  </a:lnTo>
                  <a:lnTo>
                    <a:pt x="397176" y="496482"/>
                  </a:lnTo>
                  <a:lnTo>
                    <a:pt x="0" y="49648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10382" t="0" r="-110383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9525"/>
              <a:ext cx="397180" cy="5060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92"/>
                </a:lnSpc>
              </a:pPr>
              <a:r>
                <a:rPr lang="en-US" sz="2326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2</a:t>
              </a: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14353423" y="3333102"/>
            <a:ext cx="2482691" cy="338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5"/>
              </a:lnSpc>
            </a:pPr>
            <a:r>
              <a:rPr lang="en-US" sz="1951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v2.0 — Medium Term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4353423" y="3772795"/>
            <a:ext cx="2964961" cy="578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5"/>
              </a:lnSpc>
            </a:pPr>
            <a:r>
              <a:rPr lang="en-US" sz="1501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Multi-face detection; GPS-tagged events; admin dashboard.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12569857" y="4470121"/>
            <a:ext cx="595760" cy="28594"/>
            <a:chOff x="0" y="0"/>
            <a:chExt cx="794347" cy="38125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94385" cy="38100"/>
            </a:xfrm>
            <a:custGeom>
              <a:avLst/>
              <a:gdLst/>
              <a:ahLst/>
              <a:cxnLst/>
              <a:rect r="r" b="b" t="t" l="l"/>
              <a:pathLst>
                <a:path h="38100" w="794385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775335" y="0"/>
                  </a:lnTo>
                  <a:cubicBezTo>
                    <a:pt x="785876" y="0"/>
                    <a:pt x="794385" y="8509"/>
                    <a:pt x="794385" y="19050"/>
                  </a:cubicBezTo>
                  <a:cubicBezTo>
                    <a:pt x="794385" y="29591"/>
                    <a:pt x="785876" y="38100"/>
                    <a:pt x="775335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595959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3132251" y="4256237"/>
            <a:ext cx="456352" cy="456362"/>
            <a:chOff x="0" y="0"/>
            <a:chExt cx="608470" cy="60848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08584" cy="608584"/>
            </a:xfrm>
            <a:custGeom>
              <a:avLst/>
              <a:gdLst/>
              <a:ahLst/>
              <a:cxnLst/>
              <a:rect r="r" b="b" t="t" l="l"/>
              <a:pathLst>
                <a:path h="608584" w="608584">
                  <a:moveTo>
                    <a:pt x="0" y="113665"/>
                  </a:moveTo>
                  <a:cubicBezTo>
                    <a:pt x="0" y="50800"/>
                    <a:pt x="50800" y="0"/>
                    <a:pt x="113665" y="0"/>
                  </a:cubicBezTo>
                  <a:lnTo>
                    <a:pt x="494919" y="0"/>
                  </a:lnTo>
                  <a:cubicBezTo>
                    <a:pt x="557657" y="0"/>
                    <a:pt x="608584" y="50800"/>
                    <a:pt x="608584" y="113665"/>
                  </a:cubicBezTo>
                  <a:lnTo>
                    <a:pt x="608584" y="494919"/>
                  </a:lnTo>
                  <a:cubicBezTo>
                    <a:pt x="608584" y="557657"/>
                    <a:pt x="557784" y="608584"/>
                    <a:pt x="494919" y="608584"/>
                  </a:cubicBezTo>
                  <a:lnTo>
                    <a:pt x="113665" y="608584"/>
                  </a:lnTo>
                  <a:cubicBezTo>
                    <a:pt x="50800" y="608457"/>
                    <a:pt x="0" y="557657"/>
                    <a:pt x="0" y="494919"/>
                  </a:cubicBezTo>
                  <a:close/>
                </a:path>
              </a:pathLst>
            </a:custGeom>
            <a:solidFill>
              <a:srgbClr val="404040"/>
            </a:solidFill>
            <a:ln w="9532" cap="sq">
              <a:solidFill>
                <a:srgbClr val="595959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13211489" y="4298242"/>
            <a:ext cx="297885" cy="372361"/>
            <a:chOff x="0" y="0"/>
            <a:chExt cx="397180" cy="496481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97176" cy="496482"/>
            </a:xfrm>
            <a:custGeom>
              <a:avLst/>
              <a:gdLst/>
              <a:ahLst/>
              <a:cxnLst/>
              <a:rect r="r" b="b" t="t" l="l"/>
              <a:pathLst>
                <a:path h="496482" w="397176">
                  <a:moveTo>
                    <a:pt x="0" y="0"/>
                  </a:moveTo>
                  <a:lnTo>
                    <a:pt x="397176" y="0"/>
                  </a:lnTo>
                  <a:lnTo>
                    <a:pt x="397176" y="496482"/>
                  </a:lnTo>
                  <a:lnTo>
                    <a:pt x="0" y="49648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10382" t="0" r="-110383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9525"/>
              <a:ext cx="397180" cy="5060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92"/>
                </a:lnSpc>
              </a:pPr>
              <a:r>
                <a:rPr lang="en-US" sz="2326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3</a:t>
              </a: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9884750" y="4300642"/>
            <a:ext cx="2482691" cy="338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35"/>
              </a:lnSpc>
            </a:pPr>
            <a:r>
              <a:rPr lang="en-US" sz="1951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v3.0 — Long Term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9402632" y="4740335"/>
            <a:ext cx="2964818" cy="578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035"/>
              </a:lnSpc>
            </a:pPr>
            <a:r>
              <a:rPr lang="en-US" sz="1501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On-device fine-tuning; federated learning across Datalake 3.0.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992991" y="6231093"/>
            <a:ext cx="397221" cy="248145"/>
            <a:chOff x="0" y="0"/>
            <a:chExt cx="529628" cy="33086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29634" cy="330854"/>
            </a:xfrm>
            <a:custGeom>
              <a:avLst/>
              <a:gdLst/>
              <a:ahLst/>
              <a:cxnLst/>
              <a:rect r="r" b="b" t="t" l="l"/>
              <a:pathLst>
                <a:path h="330854" w="529634">
                  <a:moveTo>
                    <a:pt x="0" y="0"/>
                  </a:moveTo>
                  <a:lnTo>
                    <a:pt x="529634" y="0"/>
                  </a:lnTo>
                  <a:lnTo>
                    <a:pt x="529634" y="330854"/>
                  </a:lnTo>
                  <a:lnTo>
                    <a:pt x="0" y="33085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0151" t="0" r="-30150" b="-1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19050"/>
              <a:ext cx="529628" cy="3499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1"/>
                </a:lnSpc>
              </a:pPr>
              <a:r>
                <a:rPr lang="en-US" sz="1501">
                  <a:solidFill>
                    <a:srgbClr val="8F8F8F"/>
                  </a:solidFill>
                  <a:latin typeface="Arimo"/>
                  <a:ea typeface="Arimo"/>
                  <a:cs typeface="Arimo"/>
                  <a:sym typeface="Arimo"/>
                </a:rPr>
                <a:t>01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992991" y="6539855"/>
            <a:ext cx="8088373" cy="28594"/>
            <a:chOff x="0" y="0"/>
            <a:chExt cx="10784497" cy="38125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0784459" cy="38100"/>
            </a:xfrm>
            <a:custGeom>
              <a:avLst/>
              <a:gdLst/>
              <a:ahLst/>
              <a:cxnLst/>
              <a:rect r="r" b="b" t="t" l="l"/>
              <a:pathLst>
                <a:path h="38100" w="10784459">
                  <a:moveTo>
                    <a:pt x="0" y="0"/>
                  </a:moveTo>
                  <a:lnTo>
                    <a:pt x="10784459" y="0"/>
                  </a:lnTo>
                  <a:lnTo>
                    <a:pt x="10784459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44" id="44"/>
          <p:cNvSpPr txBox="true"/>
          <p:nvPr/>
        </p:nvSpPr>
        <p:spPr>
          <a:xfrm rot="0">
            <a:off x="992991" y="6667671"/>
            <a:ext cx="2482691" cy="338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5"/>
              </a:lnSpc>
            </a:pPr>
            <a:r>
              <a:rPr lang="en-US" sz="1951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Install dependencies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992991" y="7051805"/>
            <a:ext cx="8088373" cy="3082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5"/>
              </a:lnSpc>
            </a:pPr>
            <a:r>
              <a:rPr lang="en-US" sz="1501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vision-camera, fast-tflite, mmkv.</a:t>
            </a:r>
          </a:p>
        </p:txBody>
      </p:sp>
      <p:grpSp>
        <p:nvGrpSpPr>
          <p:cNvPr name="Group 46" id="46"/>
          <p:cNvGrpSpPr/>
          <p:nvPr/>
        </p:nvGrpSpPr>
        <p:grpSpPr>
          <a:xfrm rot="0">
            <a:off x="9220324" y="6231093"/>
            <a:ext cx="397221" cy="248145"/>
            <a:chOff x="0" y="0"/>
            <a:chExt cx="529628" cy="33086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529634" cy="330854"/>
            </a:xfrm>
            <a:custGeom>
              <a:avLst/>
              <a:gdLst/>
              <a:ahLst/>
              <a:cxnLst/>
              <a:rect r="r" b="b" t="t" l="l"/>
              <a:pathLst>
                <a:path h="330854" w="529634">
                  <a:moveTo>
                    <a:pt x="0" y="0"/>
                  </a:moveTo>
                  <a:lnTo>
                    <a:pt x="529634" y="0"/>
                  </a:lnTo>
                  <a:lnTo>
                    <a:pt x="529634" y="330854"/>
                  </a:lnTo>
                  <a:lnTo>
                    <a:pt x="0" y="33085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0151" t="0" r="-30150" b="-1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19050"/>
              <a:ext cx="529628" cy="3499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1"/>
                </a:lnSpc>
              </a:pPr>
              <a:r>
                <a:rPr lang="en-US" sz="1501">
                  <a:solidFill>
                    <a:srgbClr val="8F8F8F"/>
                  </a:solidFill>
                  <a:latin typeface="Arimo"/>
                  <a:ea typeface="Arimo"/>
                  <a:cs typeface="Arimo"/>
                  <a:sym typeface="Arimo"/>
                </a:rPr>
                <a:t>02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9220324" y="6539855"/>
            <a:ext cx="8088525" cy="28594"/>
            <a:chOff x="0" y="0"/>
            <a:chExt cx="10784700" cy="38125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0784713" cy="38100"/>
            </a:xfrm>
            <a:custGeom>
              <a:avLst/>
              <a:gdLst/>
              <a:ahLst/>
              <a:cxnLst/>
              <a:rect r="r" b="b" t="t" l="l"/>
              <a:pathLst>
                <a:path h="38100" w="10784713">
                  <a:moveTo>
                    <a:pt x="0" y="0"/>
                  </a:moveTo>
                  <a:lnTo>
                    <a:pt x="10784713" y="0"/>
                  </a:lnTo>
                  <a:lnTo>
                    <a:pt x="10784713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51" id="51"/>
          <p:cNvSpPr txBox="true"/>
          <p:nvPr/>
        </p:nvSpPr>
        <p:spPr>
          <a:xfrm rot="0">
            <a:off x="9220324" y="6667671"/>
            <a:ext cx="2482691" cy="338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5"/>
              </a:lnSpc>
            </a:pPr>
            <a:r>
              <a:rPr lang="en-US" sz="1951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Copy src/ folder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9220324" y="7051805"/>
            <a:ext cx="8088525" cy="3082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5"/>
              </a:lnSpc>
            </a:pPr>
            <a:r>
              <a:rPr lang="en-US" sz="1501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Drop into your project.</a:t>
            </a:r>
          </a:p>
        </p:txBody>
      </p:sp>
      <p:grpSp>
        <p:nvGrpSpPr>
          <p:cNvPr name="Group 53" id="53"/>
          <p:cNvGrpSpPr/>
          <p:nvPr/>
        </p:nvGrpSpPr>
        <p:grpSpPr>
          <a:xfrm rot="0">
            <a:off x="992991" y="7648004"/>
            <a:ext cx="397221" cy="248145"/>
            <a:chOff x="0" y="0"/>
            <a:chExt cx="529628" cy="33086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529634" cy="330854"/>
            </a:xfrm>
            <a:custGeom>
              <a:avLst/>
              <a:gdLst/>
              <a:ahLst/>
              <a:cxnLst/>
              <a:rect r="r" b="b" t="t" l="l"/>
              <a:pathLst>
                <a:path h="330854" w="529634">
                  <a:moveTo>
                    <a:pt x="0" y="0"/>
                  </a:moveTo>
                  <a:lnTo>
                    <a:pt x="529634" y="0"/>
                  </a:lnTo>
                  <a:lnTo>
                    <a:pt x="529634" y="330854"/>
                  </a:lnTo>
                  <a:lnTo>
                    <a:pt x="0" y="33085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0151" t="0" r="-30150" b="-1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19050"/>
              <a:ext cx="529628" cy="3499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1"/>
                </a:lnSpc>
              </a:pPr>
              <a:r>
                <a:rPr lang="en-US" sz="1501">
                  <a:solidFill>
                    <a:srgbClr val="8F8F8F"/>
                  </a:solidFill>
                  <a:latin typeface="Arimo"/>
                  <a:ea typeface="Arimo"/>
                  <a:cs typeface="Arimo"/>
                  <a:sym typeface="Arimo"/>
                </a:rPr>
                <a:t>03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992991" y="7956766"/>
            <a:ext cx="8088373" cy="28594"/>
            <a:chOff x="0" y="0"/>
            <a:chExt cx="10784497" cy="38125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0784459" cy="38100"/>
            </a:xfrm>
            <a:custGeom>
              <a:avLst/>
              <a:gdLst/>
              <a:ahLst/>
              <a:cxnLst/>
              <a:rect r="r" b="b" t="t" l="l"/>
              <a:pathLst>
                <a:path h="38100" w="10784459">
                  <a:moveTo>
                    <a:pt x="0" y="0"/>
                  </a:moveTo>
                  <a:lnTo>
                    <a:pt x="10784459" y="0"/>
                  </a:lnTo>
                  <a:lnTo>
                    <a:pt x="10784459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58" id="58"/>
          <p:cNvSpPr txBox="true"/>
          <p:nvPr/>
        </p:nvSpPr>
        <p:spPr>
          <a:xfrm rot="0">
            <a:off x="992991" y="8084582"/>
            <a:ext cx="2824067" cy="338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5"/>
              </a:lnSpc>
            </a:pPr>
            <a:r>
              <a:rPr lang="en-US" sz="1951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Add Reanimated plugin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992991" y="8468716"/>
            <a:ext cx="8088373" cy="3082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5"/>
              </a:lnSpc>
            </a:pPr>
            <a:r>
              <a:rPr lang="en-US" sz="1501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Update babel.config.js.</a:t>
            </a:r>
          </a:p>
        </p:txBody>
      </p:sp>
      <p:grpSp>
        <p:nvGrpSpPr>
          <p:cNvPr name="Group 60" id="60"/>
          <p:cNvGrpSpPr/>
          <p:nvPr/>
        </p:nvGrpSpPr>
        <p:grpSpPr>
          <a:xfrm rot="0">
            <a:off x="9220324" y="7648004"/>
            <a:ext cx="397221" cy="248145"/>
            <a:chOff x="0" y="0"/>
            <a:chExt cx="529628" cy="33086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529634" cy="330854"/>
            </a:xfrm>
            <a:custGeom>
              <a:avLst/>
              <a:gdLst/>
              <a:ahLst/>
              <a:cxnLst/>
              <a:rect r="r" b="b" t="t" l="l"/>
              <a:pathLst>
                <a:path h="330854" w="529634">
                  <a:moveTo>
                    <a:pt x="0" y="0"/>
                  </a:moveTo>
                  <a:lnTo>
                    <a:pt x="529634" y="0"/>
                  </a:lnTo>
                  <a:lnTo>
                    <a:pt x="529634" y="330854"/>
                  </a:lnTo>
                  <a:lnTo>
                    <a:pt x="0" y="33085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0151" t="0" r="-30150" b="-1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19050"/>
              <a:ext cx="529628" cy="3499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1"/>
                </a:lnSpc>
              </a:pPr>
              <a:r>
                <a:rPr lang="en-US" sz="1501">
                  <a:solidFill>
                    <a:srgbClr val="8F8F8F"/>
                  </a:solidFill>
                  <a:latin typeface="Arimo"/>
                  <a:ea typeface="Arimo"/>
                  <a:cs typeface="Arimo"/>
                  <a:sym typeface="Arimo"/>
                </a:rPr>
                <a:t>04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9220324" y="7956766"/>
            <a:ext cx="8088525" cy="28594"/>
            <a:chOff x="0" y="0"/>
            <a:chExt cx="10784700" cy="38125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0784713" cy="38100"/>
            </a:xfrm>
            <a:custGeom>
              <a:avLst/>
              <a:gdLst/>
              <a:ahLst/>
              <a:cxnLst/>
              <a:rect r="r" b="b" t="t" l="l"/>
              <a:pathLst>
                <a:path h="38100" w="10784713">
                  <a:moveTo>
                    <a:pt x="0" y="0"/>
                  </a:moveTo>
                  <a:lnTo>
                    <a:pt x="10784713" y="0"/>
                  </a:lnTo>
                  <a:lnTo>
                    <a:pt x="10784713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5" id="65"/>
          <p:cNvSpPr txBox="true"/>
          <p:nvPr/>
        </p:nvSpPr>
        <p:spPr>
          <a:xfrm rot="0">
            <a:off x="9220324" y="8084582"/>
            <a:ext cx="2482691" cy="338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5"/>
              </a:lnSpc>
            </a:pPr>
            <a:r>
              <a:rPr lang="en-US" sz="1951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Mount screens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9220324" y="8468716"/>
            <a:ext cx="8088525" cy="3082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5"/>
              </a:lnSpc>
            </a:pPr>
            <a:r>
              <a:rPr lang="en-US" sz="1501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Add to React Native navigation.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1290866" y="9044235"/>
            <a:ext cx="16933078" cy="3082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5"/>
              </a:lnSpc>
            </a:pPr>
            <a:r>
              <a:rPr lang="en-US" sz="1501" i="true">
                <a:solidFill>
                  <a:srgbClr val="8F8F8F"/>
                </a:solidFill>
                <a:latin typeface="Arimo Italics"/>
                <a:ea typeface="Arimo Italics"/>
                <a:cs typeface="Arimo Italics"/>
                <a:sym typeface="Arimo Italics"/>
              </a:rPr>
              <a:t>FaceAuth — Bringing secure identity to where the road ends and the work begins.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81616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628307" y="9846183"/>
            <a:ext cx="1609020" cy="384353"/>
            <a:chOff x="0" y="0"/>
            <a:chExt cx="2145360" cy="512470"/>
          </a:xfrm>
        </p:grpSpPr>
        <p:sp>
          <p:nvSpPr>
            <p:cNvPr name="Freeform 7" id="7" descr="preencoded.png">
              <a:hlinkClick r:id="rId4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145411" cy="512445"/>
            </a:xfrm>
            <a:custGeom>
              <a:avLst/>
              <a:gdLst/>
              <a:ahLst/>
              <a:cxnLst/>
              <a:rect r="r" b="b" t="t" l="l"/>
              <a:pathLst>
                <a:path h="512445" w="2145411">
                  <a:moveTo>
                    <a:pt x="0" y="0"/>
                  </a:moveTo>
                  <a:lnTo>
                    <a:pt x="2145411" y="0"/>
                  </a:lnTo>
                  <a:lnTo>
                    <a:pt x="2145411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2" b="-4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" t="0" r="-1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81616">
                <a:alpha val="63922"/>
              </a:srgbClr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696736" y="802100"/>
            <a:ext cx="14908225" cy="7895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07"/>
              </a:lnSpc>
            </a:pPr>
            <a:r>
              <a:rPr lang="en-US" sz="4653">
                <a:solidFill>
                  <a:srgbClr val="DDDDDD"/>
                </a:solidFill>
                <a:latin typeface="Arimo"/>
                <a:ea typeface="Arimo"/>
                <a:cs typeface="Arimo"/>
                <a:sym typeface="Arimo"/>
              </a:rPr>
              <a:t>Conclusion: Empowering NHAI's Field Operations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77494" y="1822837"/>
            <a:ext cx="16346843" cy="764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7"/>
              </a:lnSpc>
            </a:pPr>
            <a:r>
              <a:rPr lang="en-US" sz="1801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FaceAuth delivers a secure, robust, and offline-first identity verification system, meticulously designed to meet the critical demands of NHAI's remote project sites.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77494" y="2980553"/>
            <a:ext cx="3882733" cy="399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3"/>
              </a:lnSpc>
            </a:pPr>
            <a:r>
              <a:rPr lang="en-US" sz="2326">
                <a:solidFill>
                  <a:srgbClr val="DDDDDD"/>
                </a:solidFill>
                <a:latin typeface="Arimo"/>
                <a:ea typeface="Arimo"/>
                <a:cs typeface="Arimo"/>
                <a:sym typeface="Arimo"/>
              </a:rPr>
              <a:t>What We Delivered</a:t>
            </a:r>
          </a:p>
        </p:txBody>
      </p:sp>
      <p:sp>
        <p:nvSpPr>
          <p:cNvPr name="Freeform 15" id="15" descr="preencoded.png"/>
          <p:cNvSpPr/>
          <p:nvPr/>
        </p:nvSpPr>
        <p:spPr>
          <a:xfrm flipH="false" flipV="false" rot="0">
            <a:off x="1066419" y="3615328"/>
            <a:ext cx="356121" cy="356130"/>
          </a:xfrm>
          <a:custGeom>
            <a:avLst/>
            <a:gdLst/>
            <a:ahLst/>
            <a:cxnLst/>
            <a:rect r="r" b="b" t="t" l="l"/>
            <a:pathLst>
              <a:path h="356130" w="356121">
                <a:moveTo>
                  <a:pt x="0" y="0"/>
                </a:moveTo>
                <a:lnTo>
                  <a:pt x="356121" y="0"/>
                </a:lnTo>
                <a:lnTo>
                  <a:pt x="356121" y="356130"/>
                </a:lnTo>
                <a:lnTo>
                  <a:pt x="0" y="35613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7895" t="0" r="-7895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749009" y="3536890"/>
            <a:ext cx="7112365" cy="9430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7"/>
              </a:lnSpc>
            </a:pPr>
            <a:r>
              <a:rPr lang="en-US" sz="1801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True Offline Capability</a:t>
            </a:r>
          </a:p>
          <a:p>
            <a:pPr algn="l">
              <a:lnSpc>
                <a:spcPts val="2637"/>
              </a:lnSpc>
            </a:pPr>
            <a:r>
              <a:rPr lang="en-US" sz="1801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Seamless biometrics, independent of internet connectivity.</a:t>
            </a:r>
          </a:p>
        </p:txBody>
      </p:sp>
      <p:sp>
        <p:nvSpPr>
          <p:cNvPr name="Freeform 17" id="17" descr="preencoded.png"/>
          <p:cNvSpPr/>
          <p:nvPr/>
        </p:nvSpPr>
        <p:spPr>
          <a:xfrm flipH="false" flipV="false" rot="0">
            <a:off x="1066419" y="4888954"/>
            <a:ext cx="356121" cy="356130"/>
          </a:xfrm>
          <a:custGeom>
            <a:avLst/>
            <a:gdLst/>
            <a:ahLst/>
            <a:cxnLst/>
            <a:rect r="r" b="b" t="t" l="l"/>
            <a:pathLst>
              <a:path h="356130" w="356121">
                <a:moveTo>
                  <a:pt x="0" y="0"/>
                </a:moveTo>
                <a:lnTo>
                  <a:pt x="356121" y="0"/>
                </a:lnTo>
                <a:lnTo>
                  <a:pt x="356121" y="356130"/>
                </a:lnTo>
                <a:lnTo>
                  <a:pt x="0" y="35613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7895" t="0" r="-7895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749009" y="4810516"/>
            <a:ext cx="7112365" cy="9430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7"/>
              </a:lnSpc>
            </a:pPr>
            <a:r>
              <a:rPr lang="en-US" sz="1801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Integrated Liveness Detection</a:t>
            </a:r>
          </a:p>
          <a:p>
            <a:pPr algn="l">
              <a:lnSpc>
                <a:spcPts val="2637"/>
              </a:lnSpc>
            </a:pPr>
            <a:r>
              <a:rPr lang="en-US" sz="1801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Anti-spoofing built-in, no extra cost or latency.</a:t>
            </a:r>
          </a:p>
        </p:txBody>
      </p:sp>
      <p:sp>
        <p:nvSpPr>
          <p:cNvPr name="Freeform 19" id="19" descr="preencoded.png"/>
          <p:cNvSpPr/>
          <p:nvPr/>
        </p:nvSpPr>
        <p:spPr>
          <a:xfrm flipH="false" flipV="false" rot="0">
            <a:off x="1066419" y="6162580"/>
            <a:ext cx="356121" cy="356130"/>
          </a:xfrm>
          <a:custGeom>
            <a:avLst/>
            <a:gdLst/>
            <a:ahLst/>
            <a:cxnLst/>
            <a:rect r="r" b="b" t="t" l="l"/>
            <a:pathLst>
              <a:path h="356130" w="356121">
                <a:moveTo>
                  <a:pt x="0" y="0"/>
                </a:moveTo>
                <a:lnTo>
                  <a:pt x="356121" y="0"/>
                </a:lnTo>
                <a:lnTo>
                  <a:pt x="356121" y="356130"/>
                </a:lnTo>
                <a:lnTo>
                  <a:pt x="0" y="35613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7895" t="0" r="-7895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749009" y="6084141"/>
            <a:ext cx="7112365" cy="9430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7"/>
              </a:lnSpc>
            </a:pPr>
            <a:r>
              <a:rPr lang="en-US" sz="1801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Robust Performance</a:t>
            </a:r>
          </a:p>
          <a:p>
            <a:pPr algn="l">
              <a:lnSpc>
                <a:spcPts val="2637"/>
              </a:lnSpc>
            </a:pPr>
            <a:r>
              <a:rPr lang="en-US" sz="1801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High accuracy and speed, even in varied lighting conditions.</a:t>
            </a:r>
          </a:p>
        </p:txBody>
      </p:sp>
      <p:sp>
        <p:nvSpPr>
          <p:cNvPr name="Freeform 21" id="21" descr="preencoded.png"/>
          <p:cNvSpPr/>
          <p:nvPr/>
        </p:nvSpPr>
        <p:spPr>
          <a:xfrm flipH="false" flipV="false" rot="0">
            <a:off x="1066419" y="7436206"/>
            <a:ext cx="356121" cy="356130"/>
          </a:xfrm>
          <a:custGeom>
            <a:avLst/>
            <a:gdLst/>
            <a:ahLst/>
            <a:cxnLst/>
            <a:rect r="r" b="b" t="t" l="l"/>
            <a:pathLst>
              <a:path h="356130" w="356121">
                <a:moveTo>
                  <a:pt x="0" y="0"/>
                </a:moveTo>
                <a:lnTo>
                  <a:pt x="356121" y="0"/>
                </a:lnTo>
                <a:lnTo>
                  <a:pt x="356121" y="356130"/>
                </a:lnTo>
                <a:lnTo>
                  <a:pt x="0" y="35613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7895" t="0" r="-7895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749009" y="7357758"/>
            <a:ext cx="7112365" cy="9430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7"/>
              </a:lnSpc>
            </a:pPr>
            <a:r>
              <a:rPr lang="en-US" sz="1801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Minimal Footprint</a:t>
            </a:r>
          </a:p>
          <a:p>
            <a:pPr algn="l">
              <a:lnSpc>
                <a:spcPts val="2637"/>
              </a:lnSpc>
            </a:pPr>
            <a:r>
              <a:rPr lang="en-US" sz="1801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Small model size for efficient deployment on mid-range devices.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449991" y="2980553"/>
            <a:ext cx="4414009" cy="399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3"/>
              </a:lnSpc>
            </a:pPr>
            <a:r>
              <a:rPr lang="en-US" sz="2326">
                <a:solidFill>
                  <a:srgbClr val="DDDDDD"/>
                </a:solidFill>
                <a:latin typeface="Arimo"/>
                <a:ea typeface="Arimo"/>
                <a:cs typeface="Arimo"/>
                <a:sym typeface="Arimo"/>
              </a:rPr>
              <a:t>Why It's Perfect for NHAI</a:t>
            </a:r>
          </a:p>
        </p:txBody>
      </p:sp>
      <p:sp>
        <p:nvSpPr>
          <p:cNvPr name="Freeform 24" id="24" descr="preencoded.png"/>
          <p:cNvSpPr/>
          <p:nvPr/>
        </p:nvSpPr>
        <p:spPr>
          <a:xfrm flipH="false" flipV="false" rot="0">
            <a:off x="9538916" y="3615328"/>
            <a:ext cx="356121" cy="356130"/>
          </a:xfrm>
          <a:custGeom>
            <a:avLst/>
            <a:gdLst/>
            <a:ahLst/>
            <a:cxnLst/>
            <a:rect r="r" b="b" t="t" l="l"/>
            <a:pathLst>
              <a:path h="356130" w="356121">
                <a:moveTo>
                  <a:pt x="0" y="0"/>
                </a:moveTo>
                <a:lnTo>
                  <a:pt x="356121" y="0"/>
                </a:lnTo>
                <a:lnTo>
                  <a:pt x="356121" y="356130"/>
                </a:lnTo>
                <a:lnTo>
                  <a:pt x="0" y="35613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7895" t="0" r="-7895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10221506" y="3536890"/>
            <a:ext cx="7112365" cy="9430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7"/>
              </a:lnSpc>
            </a:pPr>
            <a:r>
              <a:rPr lang="en-US" sz="1801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Solves Connectivity Gaps</a:t>
            </a:r>
          </a:p>
          <a:p>
            <a:pPr algn="l">
              <a:lnSpc>
                <a:spcPts val="2637"/>
              </a:lnSpc>
            </a:pPr>
            <a:r>
              <a:rPr lang="en-US" sz="1801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Ensures verification where cloud solutions fail.</a:t>
            </a:r>
          </a:p>
        </p:txBody>
      </p:sp>
      <p:sp>
        <p:nvSpPr>
          <p:cNvPr name="Freeform 26" id="26" descr="preencoded.png"/>
          <p:cNvSpPr/>
          <p:nvPr/>
        </p:nvSpPr>
        <p:spPr>
          <a:xfrm flipH="false" flipV="false" rot="0">
            <a:off x="9538916" y="4888954"/>
            <a:ext cx="356121" cy="356130"/>
          </a:xfrm>
          <a:custGeom>
            <a:avLst/>
            <a:gdLst/>
            <a:ahLst/>
            <a:cxnLst/>
            <a:rect r="r" b="b" t="t" l="l"/>
            <a:pathLst>
              <a:path h="356130" w="356121">
                <a:moveTo>
                  <a:pt x="0" y="0"/>
                </a:moveTo>
                <a:lnTo>
                  <a:pt x="356121" y="0"/>
                </a:lnTo>
                <a:lnTo>
                  <a:pt x="356121" y="356130"/>
                </a:lnTo>
                <a:lnTo>
                  <a:pt x="0" y="35613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7895" t="0" r="-7895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10221506" y="4810516"/>
            <a:ext cx="7112365" cy="1291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7"/>
              </a:lnSpc>
            </a:pPr>
            <a:r>
              <a:rPr lang="en-US" sz="1801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Enhances Security</a:t>
            </a:r>
          </a:p>
          <a:p>
            <a:pPr algn="l">
              <a:lnSpc>
                <a:spcPts val="2637"/>
              </a:lnSpc>
            </a:pPr>
            <a:r>
              <a:rPr lang="en-US" sz="1801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Replaces vulnerable photo-based checks with verifiable biometrics.</a:t>
            </a:r>
          </a:p>
        </p:txBody>
      </p:sp>
      <p:sp>
        <p:nvSpPr>
          <p:cNvPr name="Freeform 28" id="28" descr="preencoded.png"/>
          <p:cNvSpPr/>
          <p:nvPr/>
        </p:nvSpPr>
        <p:spPr>
          <a:xfrm flipH="false" flipV="false" rot="0">
            <a:off x="9538916" y="6511404"/>
            <a:ext cx="356121" cy="356130"/>
          </a:xfrm>
          <a:custGeom>
            <a:avLst/>
            <a:gdLst/>
            <a:ahLst/>
            <a:cxnLst/>
            <a:rect r="r" b="b" t="t" l="l"/>
            <a:pathLst>
              <a:path h="356130" w="356121">
                <a:moveTo>
                  <a:pt x="0" y="0"/>
                </a:moveTo>
                <a:lnTo>
                  <a:pt x="356121" y="0"/>
                </a:lnTo>
                <a:lnTo>
                  <a:pt x="356121" y="356131"/>
                </a:lnTo>
                <a:lnTo>
                  <a:pt x="0" y="35613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7895" t="0" r="-7895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10221506" y="6432966"/>
            <a:ext cx="7112365" cy="9430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7"/>
              </a:lnSpc>
            </a:pPr>
            <a:r>
              <a:rPr lang="en-US" sz="1801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Tailored for Field Use</a:t>
            </a:r>
          </a:p>
          <a:p>
            <a:pPr algn="l">
              <a:lnSpc>
                <a:spcPts val="2637"/>
              </a:lnSpc>
            </a:pPr>
            <a:r>
              <a:rPr lang="en-US" sz="1801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Optimised for NHAI's hardware and environmental challenges.</a:t>
            </a:r>
          </a:p>
        </p:txBody>
      </p:sp>
      <p:sp>
        <p:nvSpPr>
          <p:cNvPr name="Freeform 30" id="30" descr="preencoded.png"/>
          <p:cNvSpPr/>
          <p:nvPr/>
        </p:nvSpPr>
        <p:spPr>
          <a:xfrm flipH="false" flipV="false" rot="0">
            <a:off x="9538916" y="7785030"/>
            <a:ext cx="356121" cy="356130"/>
          </a:xfrm>
          <a:custGeom>
            <a:avLst/>
            <a:gdLst/>
            <a:ahLst/>
            <a:cxnLst/>
            <a:rect r="r" b="b" t="t" l="l"/>
            <a:pathLst>
              <a:path h="356130" w="356121">
                <a:moveTo>
                  <a:pt x="0" y="0"/>
                </a:moveTo>
                <a:lnTo>
                  <a:pt x="356121" y="0"/>
                </a:lnTo>
                <a:lnTo>
                  <a:pt x="356121" y="356130"/>
                </a:lnTo>
                <a:lnTo>
                  <a:pt x="0" y="35613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7895" t="0" r="-7895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10221506" y="7706592"/>
            <a:ext cx="7112365" cy="9430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7"/>
              </a:lnSpc>
            </a:pPr>
            <a:r>
              <a:rPr lang="en-US" sz="1801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Future-Proof &amp; Scalable</a:t>
            </a:r>
          </a:p>
          <a:p>
            <a:pPr algn="l">
              <a:lnSpc>
                <a:spcPts val="2637"/>
              </a:lnSpc>
            </a:pPr>
            <a:r>
              <a:rPr lang="en-US" sz="1801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Ready for integration into Datalake 3.0 with clear roadmap.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519951" y="9029814"/>
            <a:ext cx="17261938" cy="415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7"/>
              </a:lnSpc>
            </a:pPr>
            <a:r>
              <a:rPr lang="en-US" sz="1801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FaceAuth is the only solution that combines these critical features into a single, deployable package, making it the ideal choice for the NHAI Hackathon.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81616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991" y="1108634"/>
            <a:ext cx="11267818" cy="8012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01"/>
              </a:lnSpc>
            </a:pPr>
            <a:r>
              <a:rPr lang="en-US" sz="4728">
                <a:solidFill>
                  <a:srgbClr val="DDDDDD"/>
                </a:solidFill>
                <a:latin typeface="Arimo"/>
                <a:ea typeface="Arimo"/>
                <a:cs typeface="Arimo"/>
                <a:sym typeface="Arimo"/>
              </a:rPr>
              <a:t>Meeting NHAI's Technical Demands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991" y="2243614"/>
            <a:ext cx="16315868" cy="789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9"/>
              </a:lnSpc>
            </a:pPr>
            <a:r>
              <a:rPr lang="en-US" sz="1876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FaceAuth was meticulously engineered to not just meet, but exceed the specific technical requirements outlined by NHAI for robust, offline identity verification.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88219" y="3259350"/>
            <a:ext cx="16325393" cy="5884202"/>
            <a:chOff x="0" y="0"/>
            <a:chExt cx="21767190" cy="784560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767166" cy="7845552"/>
            </a:xfrm>
            <a:custGeom>
              <a:avLst/>
              <a:gdLst/>
              <a:ahLst/>
              <a:cxnLst/>
              <a:rect r="r" b="b" t="t" l="l"/>
              <a:pathLst>
                <a:path h="7845552" w="21767166">
                  <a:moveTo>
                    <a:pt x="0" y="135255"/>
                  </a:moveTo>
                  <a:cubicBezTo>
                    <a:pt x="0" y="60579"/>
                    <a:pt x="60579" y="0"/>
                    <a:pt x="135255" y="0"/>
                  </a:cubicBezTo>
                  <a:lnTo>
                    <a:pt x="21631911" y="0"/>
                  </a:lnTo>
                  <a:cubicBezTo>
                    <a:pt x="21706587" y="0"/>
                    <a:pt x="21767166" y="60579"/>
                    <a:pt x="21767166" y="135255"/>
                  </a:cubicBezTo>
                  <a:lnTo>
                    <a:pt x="21767166" y="7710297"/>
                  </a:lnTo>
                  <a:cubicBezTo>
                    <a:pt x="21767166" y="7784973"/>
                    <a:pt x="21706587" y="7845552"/>
                    <a:pt x="21631911" y="7845552"/>
                  </a:cubicBezTo>
                  <a:lnTo>
                    <a:pt x="135255" y="7845552"/>
                  </a:lnTo>
                  <a:cubicBezTo>
                    <a:pt x="60579" y="7845552"/>
                    <a:pt x="0" y="7785100"/>
                    <a:pt x="0" y="7710297"/>
                  </a:cubicBez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060" r="0" b="-4060"/>
              </a:stretch>
            </a:blipFill>
            <a:ln w="9532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1243803" y="3329864"/>
            <a:ext cx="6620713" cy="433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9"/>
              </a:lnSpc>
            </a:pPr>
            <a:r>
              <a:rPr lang="en-US" sz="1876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NHAI Requirements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441225" y="3329864"/>
            <a:ext cx="10532050" cy="433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9"/>
              </a:lnSpc>
            </a:pPr>
            <a:r>
              <a:rPr lang="en-US" sz="1876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FaceAuth Delivery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43803" y="3961086"/>
            <a:ext cx="5705627" cy="789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9"/>
              </a:lnSpc>
            </a:pPr>
            <a:r>
              <a:rPr lang="en-US" sz="1876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Framework Compatibility: React Native (Android &amp; iOS)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441225" y="3961086"/>
            <a:ext cx="10532050" cy="442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9"/>
              </a:lnSpc>
            </a:pPr>
            <a:r>
              <a:rPr lang="en-US" sz="1876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✅</a:t>
            </a:r>
            <a:r>
              <a:rPr lang="en-US" sz="1876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Seamless cross-platform deployment on </a:t>
            </a:r>
            <a:r>
              <a:rPr lang="en-US" sz="1876" b="true">
                <a:solidFill>
                  <a:srgbClr val="00FF00"/>
                </a:solidFill>
                <a:latin typeface="Arimo Bold"/>
                <a:ea typeface="Arimo Bold"/>
                <a:cs typeface="Arimo Bold"/>
                <a:sym typeface="Arimo Bold"/>
              </a:rPr>
              <a:t>React Native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43803" y="4949190"/>
            <a:ext cx="6620713" cy="433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9"/>
              </a:lnSpc>
            </a:pPr>
            <a:r>
              <a:rPr lang="en-US" sz="1876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Model Footprint: Extremely lightweight, &lt; 20 MB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441225" y="4949190"/>
            <a:ext cx="10532050" cy="442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9"/>
              </a:lnSpc>
            </a:pPr>
            <a:r>
              <a:rPr lang="en-US" sz="1876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✅</a:t>
            </a:r>
            <a:r>
              <a:rPr lang="en-US" sz="1876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Ultra-light model size: </a:t>
            </a:r>
            <a:r>
              <a:rPr lang="en-US" sz="1876" b="true">
                <a:solidFill>
                  <a:srgbClr val="00FF00"/>
                </a:solidFill>
                <a:latin typeface="Arimo Bold"/>
                <a:ea typeface="Arimo Bold"/>
                <a:cs typeface="Arimo Bold"/>
                <a:sym typeface="Arimo Bold"/>
              </a:rPr>
              <a:t>5.3 MB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43803" y="5589946"/>
            <a:ext cx="6620713" cy="433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9"/>
              </a:lnSpc>
            </a:pPr>
            <a:r>
              <a:rPr lang="en-US" sz="1876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Processing Speed: &lt; 1 second on mid-range devices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441225" y="5589946"/>
            <a:ext cx="10532050" cy="442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9"/>
              </a:lnSpc>
            </a:pPr>
            <a:r>
              <a:rPr lang="en-US" sz="1876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✅</a:t>
            </a:r>
            <a:r>
              <a:rPr lang="en-US" sz="1876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Blazing fast end-to-end latency: </a:t>
            </a:r>
            <a:r>
              <a:rPr lang="en-US" sz="1876" b="true">
                <a:solidFill>
                  <a:srgbClr val="00FF00"/>
                </a:solidFill>
                <a:latin typeface="Arimo Bold"/>
                <a:ea typeface="Arimo Bold"/>
                <a:cs typeface="Arimo Bold"/>
                <a:sym typeface="Arimo Bold"/>
              </a:rPr>
              <a:t>57 ms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43803" y="6230703"/>
            <a:ext cx="5705627" cy="789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9"/>
              </a:lnSpc>
            </a:pPr>
            <a:r>
              <a:rPr lang="en-US" sz="1876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Hardware: Android 8.0+/iOS 12+, min 3GB RAM, no high-end GPUs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441225" y="6230703"/>
            <a:ext cx="10532050" cy="442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9"/>
              </a:lnSpc>
            </a:pPr>
            <a:r>
              <a:rPr lang="en-US" sz="1876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✅</a:t>
            </a:r>
            <a:r>
              <a:rPr lang="en-US" sz="1876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Optimised for mid-range devices and standard government-issued hardware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43803" y="7218807"/>
            <a:ext cx="5705627" cy="789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9"/>
              </a:lnSpc>
            </a:pPr>
            <a:r>
              <a:rPr lang="en-US" sz="1876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Accuracy: &gt; 95% in diverse Indian demographics &amp; varied lighting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441225" y="7218807"/>
            <a:ext cx="10532050" cy="442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9"/>
              </a:lnSpc>
            </a:pPr>
            <a:r>
              <a:rPr lang="en-US" sz="1876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✅</a:t>
            </a:r>
            <a:r>
              <a:rPr lang="en-US" sz="1876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Superior accuracy: </a:t>
            </a:r>
            <a:r>
              <a:rPr lang="en-US" sz="1876" b="true">
                <a:solidFill>
                  <a:srgbClr val="00FF00"/>
                </a:solidFill>
                <a:latin typeface="Arimo Bold"/>
                <a:ea typeface="Arimo Bold"/>
                <a:cs typeface="Arimo Bold"/>
                <a:sym typeface="Arimo Bold"/>
              </a:rPr>
              <a:t>96.2% TPR</a:t>
            </a:r>
            <a:r>
              <a:rPr lang="en-US" sz="1876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with CLAHE for all conditions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43803" y="8206902"/>
            <a:ext cx="5705627" cy="789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9"/>
              </a:lnSpc>
            </a:pPr>
            <a:r>
              <a:rPr lang="en-US" sz="1876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Technology: Exclusively open-source, no additional licenses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441225" y="8206902"/>
            <a:ext cx="10532050" cy="442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9"/>
              </a:lnSpc>
            </a:pPr>
            <a:r>
              <a:rPr lang="en-US" sz="1876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✅</a:t>
            </a:r>
            <a:r>
              <a:rPr lang="en-US" sz="1876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Pure open-source stack built on TFLite and community libraries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81616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535438" y="2400195"/>
            <a:ext cx="17230954" cy="2793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889"/>
              </a:lnSpc>
            </a:pPr>
            <a:r>
              <a:rPr lang="en-US" sz="16738">
                <a:solidFill>
                  <a:srgbClr val="DDDDDD"/>
                </a:solidFill>
                <a:latin typeface="Arimo"/>
                <a:ea typeface="Arimo"/>
                <a:cs typeface="Arimo"/>
                <a:sym typeface="Arimo"/>
              </a:rPr>
              <a:t>Thank You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991" y="5665918"/>
            <a:ext cx="16315868" cy="2095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74"/>
              </a:lnSpc>
            </a:pPr>
            <a:r>
              <a:rPr lang="en-US" sz="2176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FaceAuth makes identity verification faster, more secure, and fully offline.</a:t>
            </a:r>
          </a:p>
          <a:p>
            <a:pPr algn="ctr">
              <a:lnSpc>
                <a:spcPts val="3474"/>
              </a:lnSpc>
            </a:pPr>
            <a:r>
              <a:rPr lang="en-US" sz="2176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Built for the NHAI Hackathon 7.0.</a:t>
            </a:r>
          </a:p>
          <a:p>
            <a:pPr algn="ctr">
              <a:lnSpc>
                <a:spcPts val="3474"/>
              </a:lnSpc>
            </a:pPr>
            <a:r>
              <a:rPr lang="en-US" sz="2176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Let’s connect: anishdev02@gmail.com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DAHLr0qhHmo</dc:identifier>
  <dcterms:modified xsi:type="dcterms:W3CDTF">2011-08-01T06:04:30Z</dcterms:modified>
  <cp:revision>1</cp:revision>
  <dc:title>FaceAuth.pptx</dc:title>
</cp:coreProperties>
</file>